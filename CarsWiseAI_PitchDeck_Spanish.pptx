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64" r:id="rId2"/>
    <p:sldId id="257" r:id="rId3"/>
    <p:sldId id="258" r:id="rId4"/>
    <p:sldId id="259" r:id="rId5"/>
    <p:sldId id="260" r:id="rId6"/>
    <p:sldId id="262" r:id="rId7"/>
    <p:sldId id="263"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108" y="6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3103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A0"/>
          </a:solidFill>
          <a:ln w="12700">
            <a:solidFill>
              <a:srgbClr val="00B4A0"/>
            </a:solidFill>
            <a:prstDash val="solid"/>
          </a:ln>
        </p:spPr>
        <p:txBody>
          <a:bodyPr/>
          <a:lstStyle/>
          <a:p>
            <a:endParaRPr lang="es-ES"/>
          </a:p>
        </p:txBody>
      </p:sp>
      <p:sp>
        <p:nvSpPr>
          <p:cNvPr id="3" name="Shape 1"/>
          <p:cNvSpPr/>
          <p:nvPr/>
        </p:nvSpPr>
        <p:spPr>
          <a:xfrm>
            <a:off x="0" y="4572000"/>
            <a:ext cx="9144000" cy="571500"/>
          </a:xfrm>
          <a:prstGeom prst="rect">
            <a:avLst/>
          </a:prstGeom>
          <a:solidFill>
            <a:srgbClr val="1A2E44"/>
          </a:solidFill>
          <a:ln w="12700">
            <a:solidFill>
              <a:srgbClr val="1A2E44"/>
            </a:solidFill>
            <a:prstDash val="solid"/>
          </a:ln>
        </p:spPr>
        <p:txBody>
          <a:bodyPr/>
          <a:lstStyle/>
          <a:p>
            <a:endParaRPr lang="es-ES"/>
          </a:p>
        </p:txBody>
      </p:sp>
      <p:sp>
        <p:nvSpPr>
          <p:cNvPr id="4" name="Text 2"/>
          <p:cNvSpPr/>
          <p:nvPr/>
        </p:nvSpPr>
        <p:spPr>
          <a:xfrm>
            <a:off x="457200" y="320040"/>
            <a:ext cx="3657600" cy="201168"/>
          </a:xfrm>
          <a:prstGeom prst="rect">
            <a:avLst/>
          </a:prstGeom>
          <a:noFill/>
          <a:ln/>
        </p:spPr>
        <p:txBody>
          <a:bodyPr wrap="square" lIns="0" tIns="0" rIns="0" bIns="0" rtlCol="0" anchor="ctr"/>
          <a:lstStyle/>
          <a:p>
            <a:pPr marL="0" indent="0">
              <a:buNone/>
            </a:pPr>
            <a:r>
              <a:rPr lang="en-US" sz="800" b="1" kern="0" spc="300" dirty="0">
                <a:solidFill>
                  <a:srgbClr val="00B4A0"/>
                </a:solidFill>
                <a:latin typeface="Calibri" pitchFamily="34" charset="0"/>
                <a:ea typeface="Calibri" pitchFamily="34" charset="-122"/>
                <a:cs typeface="Calibri" pitchFamily="34" charset="-120"/>
              </a:rPr>
              <a:t>SPAIN · 2026</a:t>
            </a:r>
            <a:endParaRPr lang="en-US" sz="800" dirty="0"/>
          </a:p>
        </p:txBody>
      </p:sp>
      <p:sp>
        <p:nvSpPr>
          <p:cNvPr id="9" name="Shape 7"/>
          <p:cNvSpPr/>
          <p:nvPr/>
        </p:nvSpPr>
        <p:spPr>
          <a:xfrm>
            <a:off x="64008" y="754380"/>
            <a:ext cx="9079992" cy="3817620"/>
          </a:xfrm>
          <a:prstGeom prst="rect">
            <a:avLst/>
          </a:prstGeom>
          <a:solidFill>
            <a:srgbClr val="FFFFFF"/>
          </a:solidFill>
          <a:ln w="12700">
            <a:solidFill>
              <a:srgbClr val="FFFFFF"/>
            </a:solidFill>
            <a:prstDash val="solid"/>
          </a:ln>
          <a:effectLst>
            <a:outerShdw blurRad="254000" dist="50800" dir="8100000" algn="bl" rotWithShape="0">
              <a:srgbClr val="000000">
                <a:alpha val="25000"/>
              </a:srgbClr>
            </a:outerShdw>
          </a:effectLst>
        </p:spPr>
        <p:txBody>
          <a:bodyPr/>
          <a:lstStyle/>
          <a:p>
            <a:endParaRPr lang="es-ES"/>
          </a:p>
        </p:txBody>
      </p:sp>
      <p:pic>
        <p:nvPicPr>
          <p:cNvPr id="11" name="Image 0" descr="preencoded.png"/>
          <p:cNvPicPr>
            <a:picLocks noChangeAspect="1"/>
          </p:cNvPicPr>
          <p:nvPr/>
        </p:nvPicPr>
        <p:blipFill>
          <a:blip r:embed="rId3"/>
          <a:stretch>
            <a:fillRect/>
          </a:stretch>
        </p:blipFill>
        <p:spPr>
          <a:xfrm>
            <a:off x="6400800" y="1732788"/>
            <a:ext cx="2468880" cy="1860804"/>
          </a:xfrm>
          <a:prstGeom prst="rect">
            <a:avLst/>
          </a:prstGeom>
        </p:spPr>
      </p:pic>
      <p:sp>
        <p:nvSpPr>
          <p:cNvPr id="13" name="Text 10"/>
          <p:cNvSpPr/>
          <p:nvPr/>
        </p:nvSpPr>
        <p:spPr>
          <a:xfrm>
            <a:off x="457200" y="4709160"/>
            <a:ext cx="8229600" cy="201168"/>
          </a:xfrm>
          <a:prstGeom prst="rect">
            <a:avLst/>
          </a:prstGeom>
          <a:noFill/>
          <a:ln/>
        </p:spPr>
        <p:txBody>
          <a:bodyPr wrap="square" lIns="0" tIns="0" rIns="0" bIns="0" rtlCol="0" anchor="ctr"/>
          <a:lstStyle/>
          <a:p>
            <a:pPr marL="0" indent="0" algn="r">
              <a:buNone/>
            </a:pPr>
            <a:r>
              <a:rPr lang="en-US" sz="800" dirty="0">
                <a:solidFill>
                  <a:srgbClr val="8BA4BC"/>
                </a:solidFill>
                <a:latin typeface="Calibri" pitchFamily="34" charset="0"/>
                <a:ea typeface="Calibri" pitchFamily="34" charset="-122"/>
                <a:cs typeface="Calibri" pitchFamily="34" charset="-120"/>
              </a:rPr>
              <a:t>Confidencial · 2026</a:t>
            </a:r>
            <a:endParaRPr lang="en-US" sz="800" dirty="0"/>
          </a:p>
        </p:txBody>
      </p:sp>
      <p:sp>
        <p:nvSpPr>
          <p:cNvPr id="14" name="Text 3"/>
          <p:cNvSpPr/>
          <p:nvPr/>
        </p:nvSpPr>
        <p:spPr>
          <a:xfrm>
            <a:off x="457200" y="922162"/>
            <a:ext cx="5486400" cy="868680"/>
          </a:xfrm>
          <a:prstGeom prst="rect">
            <a:avLst/>
          </a:prstGeom>
          <a:noFill/>
          <a:ln/>
        </p:spPr>
        <p:txBody>
          <a:bodyPr wrap="square" lIns="0" tIns="0" rIns="0" bIns="0" rtlCol="0" anchor="ctr"/>
          <a:lstStyle/>
          <a:p>
            <a:pPr marL="0" indent="0">
              <a:buNone/>
            </a:pPr>
            <a:r>
              <a:rPr lang="en-US" sz="5200" b="1" dirty="0">
                <a:solidFill>
                  <a:srgbClr val="002060"/>
                </a:solidFill>
                <a:latin typeface="Trebuchet MS" pitchFamily="34" charset="0"/>
                <a:ea typeface="Trebuchet MS" pitchFamily="34" charset="-122"/>
                <a:cs typeface="Trebuchet MS" pitchFamily="34" charset="-120"/>
              </a:rPr>
              <a:t>CarsWise AI</a:t>
            </a:r>
            <a:endParaRPr lang="en-US" sz="5200" dirty="0">
              <a:solidFill>
                <a:srgbClr val="002060"/>
              </a:solidFill>
            </a:endParaRPr>
          </a:p>
        </p:txBody>
      </p:sp>
      <p:sp>
        <p:nvSpPr>
          <p:cNvPr id="15" name="Shape 4"/>
          <p:cNvSpPr/>
          <p:nvPr/>
        </p:nvSpPr>
        <p:spPr>
          <a:xfrm>
            <a:off x="457200" y="1863994"/>
            <a:ext cx="5303520" cy="22860"/>
          </a:xfrm>
          <a:prstGeom prst="rect">
            <a:avLst/>
          </a:prstGeom>
          <a:solidFill>
            <a:srgbClr val="00B4A0"/>
          </a:solidFill>
          <a:ln w="12700">
            <a:solidFill>
              <a:srgbClr val="00B4A0"/>
            </a:solidFill>
            <a:prstDash val="solid"/>
          </a:ln>
        </p:spPr>
        <p:txBody>
          <a:bodyPr/>
          <a:lstStyle/>
          <a:p>
            <a:endParaRPr lang="es-ES"/>
          </a:p>
        </p:txBody>
      </p:sp>
      <p:sp>
        <p:nvSpPr>
          <p:cNvPr id="16" name="Text 5"/>
          <p:cNvSpPr/>
          <p:nvPr/>
        </p:nvSpPr>
        <p:spPr>
          <a:xfrm>
            <a:off x="457200" y="1992010"/>
            <a:ext cx="5303520" cy="1051560"/>
          </a:xfrm>
          <a:prstGeom prst="rect">
            <a:avLst/>
          </a:prstGeom>
          <a:noFill/>
          <a:ln/>
        </p:spPr>
        <p:txBody>
          <a:bodyPr wrap="square" lIns="0" tIns="0" rIns="0" bIns="0" rtlCol="0" anchor="ctr"/>
          <a:lstStyle/>
          <a:p>
            <a:pPr marL="0" indent="0">
              <a:buNone/>
            </a:pPr>
            <a:r>
              <a:rPr lang="en-US" sz="2200" b="1" dirty="0">
                <a:solidFill>
                  <a:schemeClr val="accent5">
                    <a:lumMod val="50000"/>
                  </a:schemeClr>
                </a:solidFill>
                <a:latin typeface="Trebuchet MS" pitchFamily="34" charset="0"/>
                <a:ea typeface="Trebuchet MS" pitchFamily="34" charset="-122"/>
                <a:cs typeface="Trebuchet MS" pitchFamily="34" charset="-120"/>
              </a:rPr>
              <a:t>La forma inteligente de comprar,</a:t>
            </a:r>
            <a:endParaRPr lang="en-US" sz="2200" dirty="0">
              <a:solidFill>
                <a:schemeClr val="accent5">
                  <a:lumMod val="50000"/>
                </a:schemeClr>
              </a:solidFill>
            </a:endParaRPr>
          </a:p>
          <a:p>
            <a:pPr marL="0" indent="0">
              <a:buNone/>
            </a:pPr>
            <a:r>
              <a:rPr lang="en-US" sz="2200" b="1" dirty="0">
                <a:solidFill>
                  <a:schemeClr val="accent5">
                    <a:lumMod val="50000"/>
                  </a:schemeClr>
                </a:solidFill>
                <a:latin typeface="Trebuchet MS" pitchFamily="34" charset="0"/>
                <a:ea typeface="Trebuchet MS" pitchFamily="34" charset="-122"/>
                <a:cs typeface="Trebuchet MS" pitchFamily="34" charset="-120"/>
              </a:rPr>
              <a:t>vender y gestionar tu coche</a:t>
            </a:r>
            <a:r>
              <a:rPr lang="en-US" sz="2200" b="1" dirty="0">
                <a:solidFill>
                  <a:srgbClr val="F0F4F8"/>
                </a:solidFill>
                <a:latin typeface="Trebuchet MS" pitchFamily="34" charset="0"/>
                <a:ea typeface="Trebuchet MS" pitchFamily="34" charset="-122"/>
                <a:cs typeface="Trebuchet MS" pitchFamily="34" charset="-120"/>
              </a:rPr>
              <a:t>.</a:t>
            </a:r>
            <a:endParaRPr lang="en-US" sz="2200" dirty="0"/>
          </a:p>
        </p:txBody>
      </p:sp>
      <p:sp>
        <p:nvSpPr>
          <p:cNvPr id="17" name="Text 6"/>
          <p:cNvSpPr/>
          <p:nvPr/>
        </p:nvSpPr>
        <p:spPr>
          <a:xfrm>
            <a:off x="457200" y="3235594"/>
            <a:ext cx="5120640" cy="685800"/>
          </a:xfrm>
          <a:prstGeom prst="rect">
            <a:avLst/>
          </a:prstGeom>
          <a:noFill/>
          <a:ln/>
        </p:spPr>
        <p:txBody>
          <a:bodyPr wrap="square" lIns="0" tIns="0" rIns="0" bIns="0" rtlCol="0" anchor="ctr"/>
          <a:lstStyle/>
          <a:p>
            <a:pPr marL="0" indent="0">
              <a:buNone/>
            </a:pPr>
            <a:r>
              <a:rPr lang="en-US" sz="1200" dirty="0">
                <a:solidFill>
                  <a:srgbClr val="8BA4BC"/>
                </a:solidFill>
                <a:latin typeface="Calibri" pitchFamily="34" charset="0"/>
                <a:ea typeface="Calibri" pitchFamily="34" charset="-122"/>
                <a:cs typeface="Calibri" pitchFamily="34" charset="-120"/>
              </a:rPr>
              <a:t>2,2 millones de coches usados vendidos en España cada año.</a:t>
            </a:r>
            <a:endParaRPr lang="en-US" sz="1200" dirty="0"/>
          </a:p>
          <a:p>
            <a:pPr marL="0" indent="0">
              <a:buNone/>
            </a:pPr>
            <a:r>
              <a:rPr lang="en-US" sz="1200" dirty="0">
                <a:solidFill>
                  <a:srgbClr val="8BA4BC"/>
                </a:solidFill>
                <a:latin typeface="Calibri" pitchFamily="34" charset="0"/>
                <a:ea typeface="Calibri" pitchFamily="34" charset="-122"/>
                <a:cs typeface="Calibri" pitchFamily="34" charset="-120"/>
              </a:rPr>
              <a:t>El comprador merece un </a:t>
            </a:r>
            <a:r>
              <a:rPr lang="en-US" sz="1200" dirty="0" err="1">
                <a:solidFill>
                  <a:srgbClr val="8BA4BC"/>
                </a:solidFill>
                <a:latin typeface="Calibri" pitchFamily="34" charset="0"/>
                <a:ea typeface="Calibri" pitchFamily="34" charset="-122"/>
                <a:cs typeface="Calibri" pitchFamily="34" charset="-120"/>
              </a:rPr>
              <a:t>asesor</a:t>
            </a:r>
            <a:r>
              <a:rPr lang="en-US" sz="1200" dirty="0">
                <a:solidFill>
                  <a:srgbClr val="8BA4BC"/>
                </a:solidFill>
                <a:latin typeface="Calibri" pitchFamily="34" charset="0"/>
                <a:ea typeface="Calibri" pitchFamily="34" charset="-122"/>
                <a:cs typeface="Calibri" pitchFamily="34" charset="-120"/>
              </a:rPr>
              <a:t> neutral y </a:t>
            </a:r>
            <a:r>
              <a:rPr lang="en-US" sz="1200" dirty="0" err="1">
                <a:solidFill>
                  <a:srgbClr val="8BA4BC"/>
                </a:solidFill>
                <a:latin typeface="Calibri" pitchFamily="34" charset="0"/>
                <a:ea typeface="Calibri" pitchFamily="34" charset="-122"/>
                <a:cs typeface="Calibri" pitchFamily="34" charset="-120"/>
              </a:rPr>
              <a:t>gestionar</a:t>
            </a:r>
            <a:r>
              <a:rPr lang="en-US" sz="1200" dirty="0">
                <a:solidFill>
                  <a:srgbClr val="8BA4BC"/>
                </a:solidFill>
                <a:latin typeface="Calibri" pitchFamily="34" charset="0"/>
                <a:ea typeface="Calibri" pitchFamily="34" charset="-122"/>
                <a:cs typeface="Calibri" pitchFamily="34" charset="-120"/>
              </a:rPr>
              <a:t> </a:t>
            </a:r>
            <a:r>
              <a:rPr lang="en-US" sz="1200" dirty="0" err="1">
                <a:solidFill>
                  <a:srgbClr val="8BA4BC"/>
                </a:solidFill>
                <a:latin typeface="Calibri" pitchFamily="34" charset="0"/>
                <a:ea typeface="Calibri" pitchFamily="34" charset="-122"/>
                <a:cs typeface="Calibri" pitchFamily="34" charset="-120"/>
              </a:rPr>
              <a:t>su</a:t>
            </a:r>
            <a:r>
              <a:rPr lang="en-US" sz="1200" dirty="0">
                <a:solidFill>
                  <a:srgbClr val="8BA4BC"/>
                </a:solidFill>
                <a:latin typeface="Calibri" pitchFamily="34" charset="0"/>
                <a:ea typeface="Calibri" pitchFamily="34" charset="-122"/>
                <a:cs typeface="Calibri" pitchFamily="34" charset="-120"/>
              </a:rPr>
              <a:t> </a:t>
            </a:r>
            <a:r>
              <a:rPr lang="en-US" sz="1200" dirty="0" err="1">
                <a:solidFill>
                  <a:srgbClr val="8BA4BC"/>
                </a:solidFill>
                <a:latin typeface="Calibri" pitchFamily="34" charset="0"/>
                <a:ea typeface="Calibri" pitchFamily="34" charset="-122"/>
                <a:cs typeface="Calibri" pitchFamily="34" charset="-120"/>
              </a:rPr>
              <a:t>coche</a:t>
            </a:r>
            <a:r>
              <a:rPr lang="en-US" sz="1200" dirty="0">
                <a:solidFill>
                  <a:srgbClr val="8BA4BC"/>
                </a:solidFill>
                <a:latin typeface="Calibri" pitchFamily="34" charset="0"/>
                <a:ea typeface="Calibri" pitchFamily="34" charset="-122"/>
                <a:cs typeface="Calibri" pitchFamily="34" charset="-120"/>
              </a:rPr>
              <a:t> con </a:t>
            </a:r>
            <a:r>
              <a:rPr lang="en-US" sz="1200" dirty="0" err="1">
                <a:solidFill>
                  <a:srgbClr val="8BA4BC"/>
                </a:solidFill>
                <a:latin typeface="Calibri" pitchFamily="34" charset="0"/>
                <a:ea typeface="Calibri" pitchFamily="34" charset="-122"/>
                <a:cs typeface="Calibri" pitchFamily="34" charset="-120"/>
              </a:rPr>
              <a:t>garantías</a:t>
            </a:r>
            <a:r>
              <a:rPr lang="en-US" sz="1200" dirty="0">
                <a:solidFill>
                  <a:srgbClr val="8BA4BC"/>
                </a:solidFill>
                <a:latin typeface="Calibri" pitchFamily="34" charset="0"/>
                <a:ea typeface="Calibri" pitchFamily="34" charset="-122"/>
                <a:cs typeface="Calibri" pitchFamily="34" charset="-120"/>
              </a:rPr>
              <a:t>. El </a:t>
            </a:r>
            <a:r>
              <a:rPr lang="en-US" sz="1200" dirty="0" err="1">
                <a:solidFill>
                  <a:srgbClr val="8BA4BC"/>
                </a:solidFill>
                <a:latin typeface="Calibri" pitchFamily="34" charset="0"/>
                <a:ea typeface="Calibri" pitchFamily="34" charset="-122"/>
                <a:cs typeface="Calibri" pitchFamily="34" charset="-120"/>
              </a:rPr>
              <a:t>vendedor</a:t>
            </a:r>
            <a:r>
              <a:rPr lang="en-US" sz="1200" dirty="0">
                <a:solidFill>
                  <a:srgbClr val="8BA4BC"/>
                </a:solidFill>
                <a:latin typeface="Calibri" pitchFamily="34" charset="0"/>
                <a:ea typeface="Calibri" pitchFamily="34" charset="-122"/>
                <a:cs typeface="Calibri" pitchFamily="34" charset="-120"/>
              </a:rPr>
              <a:t> </a:t>
            </a:r>
            <a:r>
              <a:rPr lang="en-US" sz="1200" dirty="0" err="1">
                <a:solidFill>
                  <a:srgbClr val="8BA4BC"/>
                </a:solidFill>
                <a:latin typeface="Calibri" pitchFamily="34" charset="0"/>
                <a:ea typeface="Calibri" pitchFamily="34" charset="-122"/>
                <a:cs typeface="Calibri" pitchFamily="34" charset="-120"/>
              </a:rPr>
              <a:t>ganar</a:t>
            </a:r>
            <a:r>
              <a:rPr lang="en-US" sz="1200" dirty="0">
                <a:solidFill>
                  <a:srgbClr val="8BA4BC"/>
                </a:solidFill>
                <a:latin typeface="Calibri" pitchFamily="34" charset="0"/>
                <a:ea typeface="Calibri" pitchFamily="34" charset="-122"/>
                <a:cs typeface="Calibri" pitchFamily="34" charset="-120"/>
              </a:rPr>
              <a:t> </a:t>
            </a:r>
            <a:r>
              <a:rPr lang="en-US" sz="1200" dirty="0" err="1">
                <a:solidFill>
                  <a:srgbClr val="8BA4BC"/>
                </a:solidFill>
                <a:latin typeface="Calibri" pitchFamily="34" charset="0"/>
                <a:ea typeface="Calibri" pitchFamily="34" charset="-122"/>
                <a:cs typeface="Calibri" pitchFamily="34" charset="-120"/>
              </a:rPr>
              <a:t>más</a:t>
            </a:r>
            <a:r>
              <a:rPr lang="en-US" sz="1200" dirty="0">
                <a:solidFill>
                  <a:srgbClr val="8BA4BC"/>
                </a:solidFill>
                <a:latin typeface="Calibri" pitchFamily="34" charset="0"/>
                <a:ea typeface="Calibri" pitchFamily="34" charset="-122"/>
                <a:cs typeface="Calibri" pitchFamily="34" charset="-120"/>
              </a:rPr>
              <a:t> </a:t>
            </a:r>
            <a:r>
              <a:rPr lang="en-US" sz="1200" dirty="0" err="1">
                <a:solidFill>
                  <a:srgbClr val="8BA4BC"/>
                </a:solidFill>
                <a:latin typeface="Calibri" pitchFamily="34" charset="0"/>
                <a:ea typeface="Calibri" pitchFamily="34" charset="-122"/>
                <a:cs typeface="Calibri" pitchFamily="34" charset="-120"/>
              </a:rPr>
              <a:t>por</a:t>
            </a:r>
            <a:r>
              <a:rPr lang="en-US" sz="1200" dirty="0">
                <a:solidFill>
                  <a:srgbClr val="8BA4BC"/>
                </a:solidFill>
                <a:latin typeface="Calibri" pitchFamily="34" charset="0"/>
                <a:ea typeface="Calibri" pitchFamily="34" charset="-122"/>
                <a:cs typeface="Calibri" pitchFamily="34" charset="-120"/>
              </a:rPr>
              <a:t> </a:t>
            </a:r>
            <a:r>
              <a:rPr lang="en-US" sz="1200" dirty="0" err="1">
                <a:solidFill>
                  <a:srgbClr val="8BA4BC"/>
                </a:solidFill>
                <a:latin typeface="Calibri" pitchFamily="34" charset="0"/>
                <a:ea typeface="Calibri" pitchFamily="34" charset="-122"/>
                <a:cs typeface="Calibri" pitchFamily="34" charset="-120"/>
              </a:rPr>
              <a:t>su</a:t>
            </a:r>
            <a:r>
              <a:rPr lang="en-US" sz="1200" dirty="0">
                <a:solidFill>
                  <a:srgbClr val="8BA4BC"/>
                </a:solidFill>
                <a:latin typeface="Calibri" pitchFamily="34" charset="0"/>
                <a:ea typeface="Calibri" pitchFamily="34" charset="-122"/>
                <a:cs typeface="Calibri" pitchFamily="34" charset="-120"/>
              </a:rPr>
              <a:t> </a:t>
            </a:r>
            <a:r>
              <a:rPr lang="en-US" sz="1200" dirty="0" err="1">
                <a:solidFill>
                  <a:srgbClr val="8BA4BC"/>
                </a:solidFill>
                <a:latin typeface="Calibri" pitchFamily="34" charset="0"/>
                <a:ea typeface="Calibri" pitchFamily="34" charset="-122"/>
                <a:cs typeface="Calibri" pitchFamily="34" charset="-120"/>
              </a:rPr>
              <a:t>coche</a:t>
            </a:r>
            <a:r>
              <a:rPr lang="en-US" sz="1200" dirty="0">
                <a:solidFill>
                  <a:srgbClr val="8BA4BC"/>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201168"/>
          </a:xfrm>
          <a:prstGeom prst="rect">
            <a:avLst/>
          </a:prstGeom>
          <a:noFill/>
          <a:ln/>
        </p:spPr>
        <p:txBody>
          <a:bodyPr wrap="square" lIns="0" tIns="0" rIns="0" bIns="0" rtlCol="0" anchor="ctr"/>
          <a:lstStyle/>
          <a:p>
            <a:pPr marL="0" indent="0">
              <a:buNone/>
            </a:pPr>
            <a:r>
              <a:rPr lang="en-US" sz="800" b="1" kern="0" spc="300" dirty="0">
                <a:solidFill>
                  <a:srgbClr val="00B4A0"/>
                </a:solidFill>
                <a:latin typeface="Calibri" pitchFamily="34" charset="0"/>
                <a:ea typeface="Calibri" pitchFamily="34" charset="-122"/>
                <a:cs typeface="Calibri" pitchFamily="34" charset="-120"/>
              </a:rPr>
              <a:t>EL PROBLEMA</a:t>
            </a:r>
            <a:endParaRPr lang="en-US" sz="800" dirty="0"/>
          </a:p>
        </p:txBody>
      </p:sp>
      <p:sp>
        <p:nvSpPr>
          <p:cNvPr id="3" name="Text 1"/>
          <p:cNvSpPr/>
          <p:nvPr/>
        </p:nvSpPr>
        <p:spPr>
          <a:xfrm>
            <a:off x="457200" y="475488"/>
            <a:ext cx="8229600" cy="566928"/>
          </a:xfrm>
          <a:prstGeom prst="rect">
            <a:avLst/>
          </a:prstGeom>
          <a:noFill/>
          <a:ln/>
        </p:spPr>
        <p:txBody>
          <a:bodyPr wrap="square" lIns="0" tIns="0" rIns="0" bIns="0" rtlCol="0" anchor="ctr"/>
          <a:lstStyle/>
          <a:p>
            <a:pPr marL="0" indent="0">
              <a:buNone/>
            </a:pPr>
            <a:r>
              <a:rPr lang="en-US" sz="2200" b="1">
                <a:solidFill>
                  <a:srgbClr val="0D1B2A"/>
                </a:solidFill>
                <a:latin typeface="Trebuchet MS" pitchFamily="34" charset="0"/>
                <a:ea typeface="Trebuchet MS" pitchFamily="34" charset="-122"/>
                <a:cs typeface="Trebuchet MS" pitchFamily="34" charset="-120"/>
              </a:rPr>
              <a:t>Tres fricciones estructurales en el mercado del VO</a:t>
            </a:r>
            <a:endParaRPr lang="en-US" sz="2200" dirty="0"/>
          </a:p>
        </p:txBody>
      </p:sp>
      <p:sp>
        <p:nvSpPr>
          <p:cNvPr id="4" name="Shape 2"/>
          <p:cNvSpPr/>
          <p:nvPr/>
        </p:nvSpPr>
        <p:spPr>
          <a:xfrm>
            <a:off x="457200" y="1078992"/>
            <a:ext cx="8229600" cy="22860"/>
          </a:xfrm>
          <a:prstGeom prst="rect">
            <a:avLst/>
          </a:prstGeom>
          <a:solidFill>
            <a:srgbClr val="00B4A0"/>
          </a:solidFill>
          <a:ln w="12700">
            <a:solidFill>
              <a:srgbClr val="00B4A0"/>
            </a:solidFill>
            <a:prstDash val="solid"/>
          </a:ln>
        </p:spPr>
        <p:txBody>
          <a:bodyPr/>
          <a:lstStyle/>
          <a:p>
            <a:endParaRPr lang="es-ES"/>
          </a:p>
        </p:txBody>
      </p:sp>
      <p:sp>
        <p:nvSpPr>
          <p:cNvPr id="5" name="Shape 3"/>
          <p:cNvSpPr/>
          <p:nvPr/>
        </p:nvSpPr>
        <p:spPr>
          <a:xfrm>
            <a:off x="457200" y="1207008"/>
            <a:ext cx="2679192" cy="3730752"/>
          </a:xfrm>
          <a:prstGeom prst="rect">
            <a:avLst/>
          </a:prstGeom>
          <a:solidFill>
            <a:srgbClr val="FFFFFF"/>
          </a:solidFill>
          <a:ln w="12700">
            <a:solidFill>
              <a:srgbClr val="E2EAF2"/>
            </a:solidFill>
            <a:prstDash val="solid"/>
          </a:ln>
          <a:effectLst>
            <a:outerShdw blurRad="127000" dist="38100" dir="8100000" algn="bl" rotWithShape="0">
              <a:srgbClr val="000000">
                <a:alpha val="8000"/>
              </a:srgbClr>
            </a:outerShdw>
          </a:effectLst>
        </p:spPr>
        <p:txBody>
          <a:bodyPr/>
          <a:lstStyle/>
          <a:p>
            <a:endParaRPr lang="es-ES"/>
          </a:p>
        </p:txBody>
      </p:sp>
      <p:sp>
        <p:nvSpPr>
          <p:cNvPr id="6" name="Shape 4"/>
          <p:cNvSpPr/>
          <p:nvPr/>
        </p:nvSpPr>
        <p:spPr>
          <a:xfrm>
            <a:off x="457200" y="1207008"/>
            <a:ext cx="2679192" cy="50292"/>
          </a:xfrm>
          <a:prstGeom prst="rect">
            <a:avLst/>
          </a:prstGeom>
          <a:solidFill>
            <a:srgbClr val="00B4A0"/>
          </a:solidFill>
          <a:ln w="12700">
            <a:solidFill>
              <a:srgbClr val="00B4A0"/>
            </a:solidFill>
            <a:prstDash val="solid"/>
          </a:ln>
        </p:spPr>
        <p:txBody>
          <a:bodyPr/>
          <a:lstStyle/>
          <a:p>
            <a:endParaRPr lang="es-ES"/>
          </a:p>
        </p:txBody>
      </p:sp>
      <p:sp>
        <p:nvSpPr>
          <p:cNvPr id="7" name="Text 5"/>
          <p:cNvSpPr/>
          <p:nvPr/>
        </p:nvSpPr>
        <p:spPr>
          <a:xfrm>
            <a:off x="621792" y="1325880"/>
            <a:ext cx="402336" cy="274320"/>
          </a:xfrm>
          <a:prstGeom prst="rect">
            <a:avLst/>
          </a:prstGeom>
          <a:noFill/>
          <a:ln/>
        </p:spPr>
        <p:txBody>
          <a:bodyPr wrap="square" lIns="0" tIns="0" rIns="0" bIns="0" rtlCol="0" anchor="ctr"/>
          <a:lstStyle/>
          <a:p>
            <a:pPr marL="0" indent="0">
              <a:buNone/>
            </a:pPr>
            <a:r>
              <a:rPr lang="en-US" sz="1600" b="1" dirty="0">
                <a:solidFill>
                  <a:srgbClr val="00B4A0"/>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1024128" y="1325880"/>
            <a:ext cx="1965960" cy="274320"/>
          </a:xfrm>
          <a:prstGeom prst="rect">
            <a:avLst/>
          </a:prstGeom>
          <a:noFill/>
          <a:ln/>
        </p:spPr>
        <p:txBody>
          <a:bodyPr wrap="square" lIns="0" tIns="0" rIns="0" bIns="0" rtlCol="0" anchor="ctr"/>
          <a:lstStyle/>
          <a:p>
            <a:pPr marL="0" indent="0">
              <a:buNone/>
            </a:pPr>
            <a:r>
              <a:rPr lang="en-US" sz="1400" b="1" dirty="0">
                <a:solidFill>
                  <a:srgbClr val="0D1B2A"/>
                </a:solidFill>
                <a:latin typeface="Trebuchet MS" pitchFamily="34" charset="0"/>
                <a:ea typeface="Trebuchet MS" pitchFamily="34" charset="-122"/>
                <a:cs typeface="Trebuchet MS" pitchFamily="34" charset="-120"/>
              </a:rPr>
              <a:t>En la Compra</a:t>
            </a:r>
            <a:endParaRPr lang="en-US" sz="1400" dirty="0"/>
          </a:p>
        </p:txBody>
      </p:sp>
      <p:sp>
        <p:nvSpPr>
          <p:cNvPr id="9" name="Shape 7"/>
          <p:cNvSpPr/>
          <p:nvPr/>
        </p:nvSpPr>
        <p:spPr>
          <a:xfrm>
            <a:off x="621792" y="1682496"/>
            <a:ext cx="2350008" cy="22860"/>
          </a:xfrm>
          <a:prstGeom prst="rect">
            <a:avLst/>
          </a:prstGeom>
          <a:solidFill>
            <a:srgbClr val="E2EAF2"/>
          </a:solidFill>
          <a:ln w="12700">
            <a:solidFill>
              <a:srgbClr val="E2EAF2"/>
            </a:solidFill>
            <a:prstDash val="solid"/>
          </a:ln>
        </p:spPr>
        <p:txBody>
          <a:bodyPr/>
          <a:lstStyle/>
          <a:p>
            <a:endParaRPr lang="es-ES"/>
          </a:p>
        </p:txBody>
      </p:sp>
      <p:sp>
        <p:nvSpPr>
          <p:cNvPr id="10" name="Shape 8"/>
          <p:cNvSpPr/>
          <p:nvPr/>
        </p:nvSpPr>
        <p:spPr>
          <a:xfrm>
            <a:off x="621792" y="1837944"/>
            <a:ext cx="54864" cy="54864"/>
          </a:xfrm>
          <a:prstGeom prst="rect">
            <a:avLst/>
          </a:prstGeom>
          <a:solidFill>
            <a:srgbClr val="00B4A0"/>
          </a:solidFill>
          <a:ln w="12700">
            <a:solidFill>
              <a:srgbClr val="00B4A0"/>
            </a:solidFill>
            <a:prstDash val="solid"/>
          </a:ln>
        </p:spPr>
        <p:txBody>
          <a:bodyPr/>
          <a:lstStyle/>
          <a:p>
            <a:endParaRPr lang="es-ES"/>
          </a:p>
        </p:txBody>
      </p:sp>
      <p:sp>
        <p:nvSpPr>
          <p:cNvPr id="11" name="Text 9"/>
          <p:cNvSpPr/>
          <p:nvPr/>
        </p:nvSpPr>
        <p:spPr>
          <a:xfrm>
            <a:off x="731520" y="1792224"/>
            <a:ext cx="2258568" cy="786384"/>
          </a:xfrm>
          <a:prstGeom prst="rect">
            <a:avLst/>
          </a:prstGeom>
          <a:noFill/>
          <a:ln/>
        </p:spPr>
        <p:txBody>
          <a:bodyPr wrap="square" lIns="0" tIns="0" rIns="0" bIns="0" rtlCol="0" anchor="ctr"/>
          <a:lstStyle/>
          <a:p>
            <a:pPr marL="0" indent="0">
              <a:buNone/>
            </a:pPr>
            <a:r>
              <a:rPr lang="en-US" sz="950" b="1" dirty="0">
                <a:solidFill>
                  <a:srgbClr val="0D1B2A"/>
                </a:solidFill>
                <a:latin typeface="Calibri" pitchFamily="34" charset="0"/>
                <a:ea typeface="Calibri" pitchFamily="34" charset="-122"/>
                <a:cs typeface="Calibri" pitchFamily="34" charset="-120"/>
              </a:rPr>
              <a:t>Asimetría de información:</a:t>
            </a:r>
            <a:r>
              <a:rPr lang="en-US" sz="950" dirty="0">
                <a:solidFill>
                  <a:srgbClr val="1A2E44"/>
                </a:solidFill>
                <a:latin typeface="Calibri" pitchFamily="34" charset="0"/>
                <a:ea typeface="Calibri" pitchFamily="34" charset="-122"/>
                <a:cs typeface="Calibri" pitchFamily="34" charset="-120"/>
              </a:rPr>
              <a:t> el comprador desconoce el historial de mantenimiento, el origen del vehículo y el precio objetivo que debería pagar.</a:t>
            </a:r>
            <a:endParaRPr lang="en-US" sz="950" dirty="0"/>
          </a:p>
        </p:txBody>
      </p:sp>
      <p:sp>
        <p:nvSpPr>
          <p:cNvPr id="12" name="Shape 10"/>
          <p:cNvSpPr/>
          <p:nvPr/>
        </p:nvSpPr>
        <p:spPr>
          <a:xfrm>
            <a:off x="621792" y="2688336"/>
            <a:ext cx="54864" cy="54864"/>
          </a:xfrm>
          <a:prstGeom prst="rect">
            <a:avLst/>
          </a:prstGeom>
          <a:solidFill>
            <a:srgbClr val="00B4A0"/>
          </a:solidFill>
          <a:ln w="12700">
            <a:solidFill>
              <a:srgbClr val="00B4A0"/>
            </a:solidFill>
            <a:prstDash val="solid"/>
          </a:ln>
        </p:spPr>
        <p:txBody>
          <a:bodyPr/>
          <a:lstStyle/>
          <a:p>
            <a:endParaRPr lang="es-ES"/>
          </a:p>
        </p:txBody>
      </p:sp>
      <p:sp>
        <p:nvSpPr>
          <p:cNvPr id="13" name="Text 11"/>
          <p:cNvSpPr/>
          <p:nvPr/>
        </p:nvSpPr>
        <p:spPr>
          <a:xfrm>
            <a:off x="731520" y="2642616"/>
            <a:ext cx="2258568" cy="786384"/>
          </a:xfrm>
          <a:prstGeom prst="rect">
            <a:avLst/>
          </a:prstGeom>
          <a:noFill/>
          <a:ln/>
        </p:spPr>
        <p:txBody>
          <a:bodyPr wrap="square" lIns="0" tIns="0" rIns="0" bIns="0" rtlCol="0" anchor="ctr"/>
          <a:lstStyle/>
          <a:p>
            <a:pPr marL="0" indent="0">
              <a:buNone/>
            </a:pPr>
            <a:r>
              <a:rPr lang="en-US" sz="950" b="1" dirty="0">
                <a:solidFill>
                  <a:srgbClr val="0D1B2A"/>
                </a:solidFill>
                <a:latin typeface="Calibri" pitchFamily="34" charset="0"/>
                <a:ea typeface="Calibri" pitchFamily="34" charset="-122"/>
                <a:cs typeface="Calibri" pitchFamily="34" charset="-120"/>
              </a:rPr>
              <a:t>Pool limitado de coches:</a:t>
            </a:r>
            <a:r>
              <a:rPr lang="en-US" sz="950" dirty="0">
                <a:solidFill>
                  <a:srgbClr val="1A2E44"/>
                </a:solidFill>
                <a:latin typeface="Calibri" pitchFamily="34" charset="0"/>
                <a:ea typeface="Calibri" pitchFamily="34" charset="-122"/>
                <a:cs typeface="Calibri" pitchFamily="34" charset="-120"/>
              </a:rPr>
              <a:t> la decisión no se toma con criterios objetivos, sino en base a los vehículos disponibles del vendedor, sin ajustarse a las necesidades reales del comprador.</a:t>
            </a:r>
            <a:endParaRPr lang="en-US" sz="950" dirty="0"/>
          </a:p>
        </p:txBody>
      </p:sp>
      <p:sp>
        <p:nvSpPr>
          <p:cNvPr id="14" name="Shape 12"/>
          <p:cNvSpPr/>
          <p:nvPr/>
        </p:nvSpPr>
        <p:spPr>
          <a:xfrm>
            <a:off x="621792" y="3538728"/>
            <a:ext cx="54864" cy="54864"/>
          </a:xfrm>
          <a:prstGeom prst="rect">
            <a:avLst/>
          </a:prstGeom>
          <a:solidFill>
            <a:srgbClr val="00B4A0"/>
          </a:solidFill>
          <a:ln w="12700">
            <a:solidFill>
              <a:srgbClr val="00B4A0"/>
            </a:solidFill>
            <a:prstDash val="solid"/>
          </a:ln>
        </p:spPr>
        <p:txBody>
          <a:bodyPr/>
          <a:lstStyle/>
          <a:p>
            <a:endParaRPr lang="es-ES"/>
          </a:p>
        </p:txBody>
      </p:sp>
      <p:sp>
        <p:nvSpPr>
          <p:cNvPr id="15" name="Text 13"/>
          <p:cNvSpPr/>
          <p:nvPr/>
        </p:nvSpPr>
        <p:spPr>
          <a:xfrm>
            <a:off x="731520" y="3493008"/>
            <a:ext cx="2258568" cy="786384"/>
          </a:xfrm>
          <a:prstGeom prst="rect">
            <a:avLst/>
          </a:prstGeom>
          <a:noFill/>
          <a:ln/>
        </p:spPr>
        <p:txBody>
          <a:bodyPr wrap="square" lIns="0" tIns="0" rIns="0" bIns="0" rtlCol="0" anchor="ctr"/>
          <a:lstStyle/>
          <a:p>
            <a:pPr marL="0" indent="0">
              <a:buNone/>
            </a:pPr>
            <a:r>
              <a:rPr lang="en-US" sz="950" b="1" dirty="0">
                <a:solidFill>
                  <a:srgbClr val="0D1B2A"/>
                </a:solidFill>
                <a:latin typeface="Calibri" pitchFamily="34" charset="0"/>
                <a:ea typeface="Calibri" pitchFamily="34" charset="-122"/>
                <a:cs typeface="Calibri" pitchFamily="34" charset="-120"/>
              </a:rPr>
              <a:t>Sobrecostes encubiertos:</a:t>
            </a:r>
            <a:r>
              <a:rPr lang="en-US" sz="950" dirty="0">
                <a:solidFill>
                  <a:srgbClr val="1A2E44"/>
                </a:solidFill>
                <a:latin typeface="Calibri" pitchFamily="34" charset="0"/>
                <a:ea typeface="Calibri" pitchFamily="34" charset="-122"/>
                <a:cs typeface="Calibri" pitchFamily="34" charset="-120"/>
              </a:rPr>
              <a:t> el vendedor encarece significativamente la financiación bancaria y el comprador lo desconoce en el momento de la compra.</a:t>
            </a:r>
            <a:endParaRPr lang="en-US" sz="950" dirty="0"/>
          </a:p>
        </p:txBody>
      </p:sp>
      <p:sp>
        <p:nvSpPr>
          <p:cNvPr id="16" name="Shape 14"/>
          <p:cNvSpPr/>
          <p:nvPr/>
        </p:nvSpPr>
        <p:spPr>
          <a:xfrm>
            <a:off x="457200" y="4279392"/>
            <a:ext cx="2679192" cy="658368"/>
          </a:xfrm>
          <a:prstGeom prst="rect">
            <a:avLst/>
          </a:prstGeom>
          <a:solidFill>
            <a:srgbClr val="0D1B2A"/>
          </a:solidFill>
          <a:ln w="12700">
            <a:solidFill>
              <a:srgbClr val="0D1B2A"/>
            </a:solidFill>
            <a:prstDash val="solid"/>
          </a:ln>
        </p:spPr>
        <p:txBody>
          <a:bodyPr/>
          <a:lstStyle/>
          <a:p>
            <a:endParaRPr lang="es-ES"/>
          </a:p>
        </p:txBody>
      </p:sp>
      <p:sp>
        <p:nvSpPr>
          <p:cNvPr id="17" name="Text 15"/>
          <p:cNvSpPr/>
          <p:nvPr/>
        </p:nvSpPr>
        <p:spPr>
          <a:xfrm>
            <a:off x="603504" y="4297680"/>
            <a:ext cx="1473556" cy="384048"/>
          </a:xfrm>
          <a:prstGeom prst="rect">
            <a:avLst/>
          </a:prstGeom>
          <a:noFill/>
          <a:ln/>
        </p:spPr>
        <p:txBody>
          <a:bodyPr wrap="square" lIns="0" tIns="0" rIns="0" bIns="0" rtlCol="0" anchor="ctr"/>
          <a:lstStyle/>
          <a:p>
            <a:pPr marL="0" indent="0">
              <a:buNone/>
            </a:pPr>
            <a:r>
              <a:rPr lang="en-US" sz="2200" b="1" dirty="0">
                <a:solidFill>
                  <a:srgbClr val="00B4A0"/>
                </a:solidFill>
                <a:latin typeface="Trebuchet MS" pitchFamily="34" charset="0"/>
                <a:ea typeface="Trebuchet MS" pitchFamily="34" charset="-122"/>
                <a:cs typeface="Trebuchet MS" pitchFamily="34" charset="-120"/>
              </a:rPr>
              <a:t>2,2M</a:t>
            </a:r>
            <a:endParaRPr lang="en-US" sz="2200" dirty="0"/>
          </a:p>
        </p:txBody>
      </p:sp>
      <p:sp>
        <p:nvSpPr>
          <p:cNvPr id="18" name="Text 16"/>
          <p:cNvSpPr/>
          <p:nvPr/>
        </p:nvSpPr>
        <p:spPr>
          <a:xfrm>
            <a:off x="603504" y="4663440"/>
            <a:ext cx="2478024" cy="219456"/>
          </a:xfrm>
          <a:prstGeom prst="rect">
            <a:avLst/>
          </a:prstGeom>
          <a:noFill/>
          <a:ln/>
        </p:spPr>
        <p:txBody>
          <a:bodyPr wrap="square" lIns="0" tIns="0" rIns="0" bIns="0" rtlCol="0" anchor="ctr"/>
          <a:lstStyle/>
          <a:p>
            <a:pPr marL="0" indent="0">
              <a:buNone/>
            </a:pPr>
            <a:r>
              <a:rPr lang="en-US" sz="800" dirty="0">
                <a:solidFill>
                  <a:srgbClr val="8BA4BC"/>
                </a:solidFill>
                <a:latin typeface="Calibri" pitchFamily="34" charset="0"/>
                <a:ea typeface="Calibri" pitchFamily="34" charset="-122"/>
                <a:cs typeface="Calibri" pitchFamily="34" charset="-120"/>
              </a:rPr>
              <a:t>compradores sin info neutral / año</a:t>
            </a:r>
            <a:endParaRPr lang="en-US" sz="800" dirty="0"/>
          </a:p>
        </p:txBody>
      </p:sp>
      <p:sp>
        <p:nvSpPr>
          <p:cNvPr id="19" name="Shape 17"/>
          <p:cNvSpPr/>
          <p:nvPr/>
        </p:nvSpPr>
        <p:spPr>
          <a:xfrm>
            <a:off x="3191256" y="1207008"/>
            <a:ext cx="2679192" cy="3730752"/>
          </a:xfrm>
          <a:prstGeom prst="rect">
            <a:avLst/>
          </a:prstGeom>
          <a:solidFill>
            <a:srgbClr val="FFFFFF"/>
          </a:solidFill>
          <a:ln w="12700">
            <a:solidFill>
              <a:srgbClr val="E2EAF2"/>
            </a:solidFill>
            <a:prstDash val="solid"/>
          </a:ln>
          <a:effectLst>
            <a:outerShdw blurRad="127000" dist="38100" dir="8100000" algn="bl" rotWithShape="0">
              <a:srgbClr val="000000">
                <a:alpha val="8000"/>
              </a:srgbClr>
            </a:outerShdw>
          </a:effectLst>
        </p:spPr>
        <p:txBody>
          <a:bodyPr/>
          <a:lstStyle/>
          <a:p>
            <a:endParaRPr lang="es-ES"/>
          </a:p>
        </p:txBody>
      </p:sp>
      <p:sp>
        <p:nvSpPr>
          <p:cNvPr id="20" name="Shape 18"/>
          <p:cNvSpPr/>
          <p:nvPr/>
        </p:nvSpPr>
        <p:spPr>
          <a:xfrm>
            <a:off x="3191256" y="1207008"/>
            <a:ext cx="2679192" cy="50292"/>
          </a:xfrm>
          <a:prstGeom prst="rect">
            <a:avLst/>
          </a:prstGeom>
          <a:solidFill>
            <a:srgbClr val="00B4A0"/>
          </a:solidFill>
          <a:ln w="12700">
            <a:solidFill>
              <a:srgbClr val="00B4A0"/>
            </a:solidFill>
            <a:prstDash val="solid"/>
          </a:ln>
        </p:spPr>
        <p:txBody>
          <a:bodyPr/>
          <a:lstStyle/>
          <a:p>
            <a:endParaRPr lang="es-ES"/>
          </a:p>
        </p:txBody>
      </p:sp>
      <p:sp>
        <p:nvSpPr>
          <p:cNvPr id="21" name="Text 19"/>
          <p:cNvSpPr/>
          <p:nvPr/>
        </p:nvSpPr>
        <p:spPr>
          <a:xfrm>
            <a:off x="3355848" y="1325880"/>
            <a:ext cx="402336" cy="274320"/>
          </a:xfrm>
          <a:prstGeom prst="rect">
            <a:avLst/>
          </a:prstGeom>
          <a:noFill/>
          <a:ln/>
        </p:spPr>
        <p:txBody>
          <a:bodyPr wrap="square" lIns="0" tIns="0" rIns="0" bIns="0" rtlCol="0" anchor="ctr"/>
          <a:lstStyle/>
          <a:p>
            <a:pPr marL="0" indent="0">
              <a:buNone/>
            </a:pPr>
            <a:r>
              <a:rPr lang="en-US" sz="1600" b="1" dirty="0">
                <a:solidFill>
                  <a:srgbClr val="00B4A0"/>
                </a:solidFill>
                <a:latin typeface="Trebuchet MS" pitchFamily="34" charset="0"/>
                <a:ea typeface="Trebuchet MS" pitchFamily="34" charset="-122"/>
                <a:cs typeface="Trebuchet MS" pitchFamily="34" charset="-120"/>
              </a:rPr>
              <a:t>02</a:t>
            </a:r>
            <a:endParaRPr lang="en-US" sz="1600" dirty="0"/>
          </a:p>
        </p:txBody>
      </p:sp>
      <p:sp>
        <p:nvSpPr>
          <p:cNvPr id="22" name="Text 20"/>
          <p:cNvSpPr/>
          <p:nvPr/>
        </p:nvSpPr>
        <p:spPr>
          <a:xfrm>
            <a:off x="3758184" y="1325880"/>
            <a:ext cx="1965960" cy="274320"/>
          </a:xfrm>
          <a:prstGeom prst="rect">
            <a:avLst/>
          </a:prstGeom>
          <a:noFill/>
          <a:ln/>
        </p:spPr>
        <p:txBody>
          <a:bodyPr wrap="square" lIns="0" tIns="0" rIns="0" bIns="0" rtlCol="0" anchor="ctr"/>
          <a:lstStyle/>
          <a:p>
            <a:pPr marL="0" indent="0">
              <a:buNone/>
            </a:pPr>
            <a:r>
              <a:rPr lang="en-US" sz="1400" b="1" dirty="0">
                <a:solidFill>
                  <a:srgbClr val="0D1B2A"/>
                </a:solidFill>
                <a:latin typeface="Trebuchet MS" pitchFamily="34" charset="0"/>
                <a:ea typeface="Trebuchet MS" pitchFamily="34" charset="-122"/>
                <a:cs typeface="Trebuchet MS" pitchFamily="34" charset="-120"/>
              </a:rPr>
              <a:t>En la Gestión</a:t>
            </a:r>
            <a:endParaRPr lang="en-US" sz="1400" dirty="0"/>
          </a:p>
        </p:txBody>
      </p:sp>
      <p:sp>
        <p:nvSpPr>
          <p:cNvPr id="23" name="Shape 21"/>
          <p:cNvSpPr/>
          <p:nvPr/>
        </p:nvSpPr>
        <p:spPr>
          <a:xfrm>
            <a:off x="3355848" y="1682496"/>
            <a:ext cx="2350008" cy="22860"/>
          </a:xfrm>
          <a:prstGeom prst="rect">
            <a:avLst/>
          </a:prstGeom>
          <a:solidFill>
            <a:srgbClr val="E2EAF2"/>
          </a:solidFill>
          <a:ln w="12700">
            <a:solidFill>
              <a:srgbClr val="E2EAF2"/>
            </a:solidFill>
            <a:prstDash val="solid"/>
          </a:ln>
        </p:spPr>
        <p:txBody>
          <a:bodyPr/>
          <a:lstStyle/>
          <a:p>
            <a:endParaRPr lang="es-ES"/>
          </a:p>
        </p:txBody>
      </p:sp>
      <p:sp>
        <p:nvSpPr>
          <p:cNvPr id="24" name="Shape 22"/>
          <p:cNvSpPr/>
          <p:nvPr/>
        </p:nvSpPr>
        <p:spPr>
          <a:xfrm>
            <a:off x="3355848" y="1837944"/>
            <a:ext cx="54864" cy="54864"/>
          </a:xfrm>
          <a:prstGeom prst="rect">
            <a:avLst/>
          </a:prstGeom>
          <a:solidFill>
            <a:srgbClr val="00B4A0"/>
          </a:solidFill>
          <a:ln w="12700">
            <a:solidFill>
              <a:srgbClr val="00B4A0"/>
            </a:solidFill>
            <a:prstDash val="solid"/>
          </a:ln>
        </p:spPr>
        <p:txBody>
          <a:bodyPr/>
          <a:lstStyle/>
          <a:p>
            <a:endParaRPr lang="es-ES"/>
          </a:p>
        </p:txBody>
      </p:sp>
      <p:sp>
        <p:nvSpPr>
          <p:cNvPr id="25" name="Text 23"/>
          <p:cNvSpPr/>
          <p:nvPr/>
        </p:nvSpPr>
        <p:spPr>
          <a:xfrm>
            <a:off x="3465576" y="1792224"/>
            <a:ext cx="2258568" cy="786384"/>
          </a:xfrm>
          <a:prstGeom prst="rect">
            <a:avLst/>
          </a:prstGeom>
          <a:noFill/>
          <a:ln/>
        </p:spPr>
        <p:txBody>
          <a:bodyPr wrap="square" lIns="0" tIns="0" rIns="0" bIns="0" rtlCol="0" anchor="ctr"/>
          <a:lstStyle/>
          <a:p>
            <a:pPr marL="0" indent="0">
              <a:buNone/>
            </a:pPr>
            <a:r>
              <a:rPr lang="en-US" sz="950" b="1" dirty="0">
                <a:solidFill>
                  <a:srgbClr val="0D1B2A"/>
                </a:solidFill>
                <a:latin typeface="Calibri" pitchFamily="34" charset="0"/>
                <a:ea typeface="Calibri" pitchFamily="34" charset="-122"/>
                <a:cs typeface="Calibri" pitchFamily="34" charset="-120"/>
              </a:rPr>
              <a:t>Actitud reactiva:</a:t>
            </a:r>
            <a:r>
              <a:rPr lang="en-US" sz="950" dirty="0">
                <a:solidFill>
                  <a:srgbClr val="1A2E44"/>
                </a:solidFill>
                <a:latin typeface="Calibri" pitchFamily="34" charset="0"/>
                <a:ea typeface="Calibri" pitchFamily="34" charset="-122"/>
                <a:cs typeface="Calibri" pitchFamily="34" charset="-120"/>
              </a:rPr>
              <a:t> el propietario solo acude al taller cuando algo falla, sin planificación ni acceso a servicios mensualizados que optimicen el coste total.</a:t>
            </a:r>
            <a:endParaRPr lang="en-US" sz="950" dirty="0"/>
          </a:p>
        </p:txBody>
      </p:sp>
      <p:sp>
        <p:nvSpPr>
          <p:cNvPr id="26" name="Shape 24"/>
          <p:cNvSpPr/>
          <p:nvPr/>
        </p:nvSpPr>
        <p:spPr>
          <a:xfrm>
            <a:off x="3355848" y="2688336"/>
            <a:ext cx="54864" cy="54864"/>
          </a:xfrm>
          <a:prstGeom prst="rect">
            <a:avLst/>
          </a:prstGeom>
          <a:solidFill>
            <a:srgbClr val="00B4A0"/>
          </a:solidFill>
          <a:ln w="12700">
            <a:solidFill>
              <a:srgbClr val="00B4A0"/>
            </a:solidFill>
            <a:prstDash val="solid"/>
          </a:ln>
        </p:spPr>
        <p:txBody>
          <a:bodyPr/>
          <a:lstStyle/>
          <a:p>
            <a:endParaRPr lang="es-ES"/>
          </a:p>
        </p:txBody>
      </p:sp>
      <p:sp>
        <p:nvSpPr>
          <p:cNvPr id="27" name="Text 25"/>
          <p:cNvSpPr/>
          <p:nvPr/>
        </p:nvSpPr>
        <p:spPr>
          <a:xfrm>
            <a:off x="3465576" y="2642616"/>
            <a:ext cx="2258568" cy="786384"/>
          </a:xfrm>
          <a:prstGeom prst="rect">
            <a:avLst/>
          </a:prstGeom>
          <a:noFill/>
          <a:ln/>
        </p:spPr>
        <p:txBody>
          <a:bodyPr wrap="square" lIns="0" tIns="0" rIns="0" bIns="0" rtlCol="0" anchor="ctr"/>
          <a:lstStyle/>
          <a:p>
            <a:pPr marL="0" indent="0">
              <a:buNone/>
            </a:pPr>
            <a:r>
              <a:rPr lang="en-US" sz="950" b="1" dirty="0">
                <a:solidFill>
                  <a:srgbClr val="0D1B2A"/>
                </a:solidFill>
                <a:latin typeface="Calibri" pitchFamily="34" charset="0"/>
                <a:ea typeface="Calibri" pitchFamily="34" charset="-122"/>
                <a:cs typeface="Calibri" pitchFamily="34" charset="-120"/>
              </a:rPr>
              <a:t>Economías de escala:</a:t>
            </a:r>
            <a:r>
              <a:rPr lang="en-US" sz="950" dirty="0">
                <a:solidFill>
                  <a:srgbClr val="1A2E44"/>
                </a:solidFill>
                <a:latin typeface="Calibri" pitchFamily="34" charset="0"/>
                <a:ea typeface="Calibri" pitchFamily="34" charset="-122"/>
                <a:cs typeface="Calibri" pitchFamily="34" charset="-120"/>
              </a:rPr>
              <a:t> las empresas de renting negocian condiciones ventajosas con talleres y aseguradoras. El particular no puede acceder a esas tarifas de forma individual.</a:t>
            </a:r>
            <a:endParaRPr lang="en-US" sz="950" dirty="0"/>
          </a:p>
        </p:txBody>
      </p:sp>
      <p:sp>
        <p:nvSpPr>
          <p:cNvPr id="28" name="Shape 26"/>
          <p:cNvSpPr/>
          <p:nvPr/>
        </p:nvSpPr>
        <p:spPr>
          <a:xfrm>
            <a:off x="3355848" y="3538728"/>
            <a:ext cx="54864" cy="54864"/>
          </a:xfrm>
          <a:prstGeom prst="rect">
            <a:avLst/>
          </a:prstGeom>
          <a:solidFill>
            <a:srgbClr val="00B4A0"/>
          </a:solidFill>
          <a:ln w="12700">
            <a:solidFill>
              <a:srgbClr val="00B4A0"/>
            </a:solidFill>
            <a:prstDash val="solid"/>
          </a:ln>
        </p:spPr>
        <p:txBody>
          <a:bodyPr/>
          <a:lstStyle/>
          <a:p>
            <a:endParaRPr lang="es-ES"/>
          </a:p>
        </p:txBody>
      </p:sp>
      <p:sp>
        <p:nvSpPr>
          <p:cNvPr id="29" name="Text 27"/>
          <p:cNvSpPr/>
          <p:nvPr/>
        </p:nvSpPr>
        <p:spPr>
          <a:xfrm>
            <a:off x="3465576" y="3493008"/>
            <a:ext cx="2258568" cy="786384"/>
          </a:xfrm>
          <a:prstGeom prst="rect">
            <a:avLst/>
          </a:prstGeom>
          <a:noFill/>
          <a:ln/>
        </p:spPr>
        <p:txBody>
          <a:bodyPr wrap="square" lIns="0" tIns="0" rIns="0" bIns="0" rtlCol="0" anchor="ctr"/>
          <a:lstStyle/>
          <a:p>
            <a:pPr marL="0" indent="0">
              <a:buNone/>
            </a:pPr>
            <a:r>
              <a:rPr lang="en-US" sz="950" b="1" dirty="0">
                <a:solidFill>
                  <a:srgbClr val="0D1B2A"/>
                </a:solidFill>
                <a:latin typeface="Calibri" pitchFamily="34" charset="0"/>
                <a:ea typeface="Calibri" pitchFamily="34" charset="-122"/>
                <a:cs typeface="Calibri" pitchFamily="34" charset="-120"/>
              </a:rPr>
              <a:t>Falta de trazabilidad:</a:t>
            </a:r>
            <a:r>
              <a:rPr lang="en-US" sz="950" dirty="0">
                <a:solidFill>
                  <a:srgbClr val="1A2E44"/>
                </a:solidFill>
                <a:latin typeface="Calibri" pitchFamily="34" charset="0"/>
                <a:ea typeface="Calibri" pitchFamily="34" charset="-122"/>
                <a:cs typeface="Calibri" pitchFamily="34" charset="-120"/>
              </a:rPr>
              <a:t> el propietario no digitaliza ni registra el historial del vehículo, lo que le genera una desventaja clara en el momento de la venta futura.</a:t>
            </a:r>
            <a:endParaRPr lang="en-US" sz="950" dirty="0"/>
          </a:p>
        </p:txBody>
      </p:sp>
      <p:sp>
        <p:nvSpPr>
          <p:cNvPr id="30" name="Shape 28"/>
          <p:cNvSpPr/>
          <p:nvPr/>
        </p:nvSpPr>
        <p:spPr>
          <a:xfrm>
            <a:off x="3191256" y="4279392"/>
            <a:ext cx="2679192" cy="658368"/>
          </a:xfrm>
          <a:prstGeom prst="rect">
            <a:avLst/>
          </a:prstGeom>
          <a:solidFill>
            <a:srgbClr val="0D1B2A"/>
          </a:solidFill>
          <a:ln w="12700">
            <a:solidFill>
              <a:srgbClr val="0D1B2A"/>
            </a:solidFill>
            <a:prstDash val="solid"/>
          </a:ln>
        </p:spPr>
        <p:txBody>
          <a:bodyPr/>
          <a:lstStyle/>
          <a:p>
            <a:endParaRPr lang="es-ES"/>
          </a:p>
        </p:txBody>
      </p:sp>
      <p:sp>
        <p:nvSpPr>
          <p:cNvPr id="31" name="Text 29"/>
          <p:cNvSpPr/>
          <p:nvPr/>
        </p:nvSpPr>
        <p:spPr>
          <a:xfrm>
            <a:off x="3337560" y="4297680"/>
            <a:ext cx="1473556" cy="384048"/>
          </a:xfrm>
          <a:prstGeom prst="rect">
            <a:avLst/>
          </a:prstGeom>
          <a:noFill/>
          <a:ln/>
        </p:spPr>
        <p:txBody>
          <a:bodyPr wrap="square" lIns="0" tIns="0" rIns="0" bIns="0" rtlCol="0" anchor="ctr"/>
          <a:lstStyle/>
          <a:p>
            <a:pPr marL="0" indent="0">
              <a:buNone/>
            </a:pPr>
            <a:r>
              <a:rPr lang="en-US" sz="2200" b="1" dirty="0">
                <a:solidFill>
                  <a:srgbClr val="00B4A0"/>
                </a:solidFill>
                <a:latin typeface="Trebuchet MS" pitchFamily="34" charset="0"/>
                <a:ea typeface="Trebuchet MS" pitchFamily="34" charset="-122"/>
                <a:cs typeface="Trebuchet MS" pitchFamily="34" charset="-120"/>
              </a:rPr>
              <a:t>~2.800€</a:t>
            </a:r>
            <a:endParaRPr lang="en-US" sz="2200" dirty="0"/>
          </a:p>
        </p:txBody>
      </p:sp>
      <p:sp>
        <p:nvSpPr>
          <p:cNvPr id="32" name="Text 30"/>
          <p:cNvSpPr/>
          <p:nvPr/>
        </p:nvSpPr>
        <p:spPr>
          <a:xfrm>
            <a:off x="3337560" y="4663440"/>
            <a:ext cx="2478024" cy="219456"/>
          </a:xfrm>
          <a:prstGeom prst="rect">
            <a:avLst/>
          </a:prstGeom>
          <a:noFill/>
          <a:ln/>
        </p:spPr>
        <p:txBody>
          <a:bodyPr wrap="square" lIns="0" tIns="0" rIns="0" bIns="0" rtlCol="0" anchor="ctr"/>
          <a:lstStyle/>
          <a:p>
            <a:pPr marL="0" indent="0">
              <a:buNone/>
            </a:pPr>
            <a:r>
              <a:rPr lang="en-US" sz="800" dirty="0">
                <a:solidFill>
                  <a:srgbClr val="8BA4BC"/>
                </a:solidFill>
                <a:latin typeface="Calibri" pitchFamily="34" charset="0"/>
                <a:ea typeface="Calibri" pitchFamily="34" charset="-122"/>
                <a:cs typeface="Calibri" pitchFamily="34" charset="-120"/>
              </a:rPr>
              <a:t>coste anual medio no optimizado</a:t>
            </a:r>
            <a:endParaRPr lang="en-US" sz="800" dirty="0"/>
          </a:p>
        </p:txBody>
      </p:sp>
      <p:sp>
        <p:nvSpPr>
          <p:cNvPr id="33" name="Shape 31"/>
          <p:cNvSpPr/>
          <p:nvPr/>
        </p:nvSpPr>
        <p:spPr>
          <a:xfrm>
            <a:off x="5925312" y="1207008"/>
            <a:ext cx="2679192" cy="3730752"/>
          </a:xfrm>
          <a:prstGeom prst="rect">
            <a:avLst/>
          </a:prstGeom>
          <a:solidFill>
            <a:srgbClr val="FFFFFF"/>
          </a:solidFill>
          <a:ln w="12700">
            <a:solidFill>
              <a:srgbClr val="E2EAF2"/>
            </a:solidFill>
            <a:prstDash val="solid"/>
          </a:ln>
          <a:effectLst>
            <a:outerShdw blurRad="127000" dist="38100" dir="8100000" algn="bl" rotWithShape="0">
              <a:srgbClr val="000000">
                <a:alpha val="8000"/>
              </a:srgbClr>
            </a:outerShdw>
          </a:effectLst>
        </p:spPr>
        <p:txBody>
          <a:bodyPr/>
          <a:lstStyle/>
          <a:p>
            <a:endParaRPr lang="es-ES"/>
          </a:p>
        </p:txBody>
      </p:sp>
      <p:sp>
        <p:nvSpPr>
          <p:cNvPr id="34" name="Shape 32"/>
          <p:cNvSpPr/>
          <p:nvPr/>
        </p:nvSpPr>
        <p:spPr>
          <a:xfrm>
            <a:off x="5925312" y="1207008"/>
            <a:ext cx="2679192" cy="50292"/>
          </a:xfrm>
          <a:prstGeom prst="rect">
            <a:avLst/>
          </a:prstGeom>
          <a:solidFill>
            <a:srgbClr val="00B4A0"/>
          </a:solidFill>
          <a:ln w="12700">
            <a:solidFill>
              <a:srgbClr val="00B4A0"/>
            </a:solidFill>
            <a:prstDash val="solid"/>
          </a:ln>
        </p:spPr>
        <p:txBody>
          <a:bodyPr/>
          <a:lstStyle/>
          <a:p>
            <a:endParaRPr lang="es-ES"/>
          </a:p>
        </p:txBody>
      </p:sp>
      <p:sp>
        <p:nvSpPr>
          <p:cNvPr id="35" name="Text 33"/>
          <p:cNvSpPr/>
          <p:nvPr/>
        </p:nvSpPr>
        <p:spPr>
          <a:xfrm>
            <a:off x="6089904" y="1325880"/>
            <a:ext cx="402336" cy="274320"/>
          </a:xfrm>
          <a:prstGeom prst="rect">
            <a:avLst/>
          </a:prstGeom>
          <a:noFill/>
          <a:ln/>
        </p:spPr>
        <p:txBody>
          <a:bodyPr wrap="square" lIns="0" tIns="0" rIns="0" bIns="0" rtlCol="0" anchor="ctr"/>
          <a:lstStyle/>
          <a:p>
            <a:pPr marL="0" indent="0">
              <a:buNone/>
            </a:pPr>
            <a:r>
              <a:rPr lang="en-US" sz="1600" b="1" dirty="0">
                <a:solidFill>
                  <a:srgbClr val="00B4A0"/>
                </a:solidFill>
                <a:latin typeface="Trebuchet MS" pitchFamily="34" charset="0"/>
                <a:ea typeface="Trebuchet MS" pitchFamily="34" charset="-122"/>
                <a:cs typeface="Trebuchet MS" pitchFamily="34" charset="-120"/>
              </a:rPr>
              <a:t>03</a:t>
            </a:r>
            <a:endParaRPr lang="en-US" sz="1600" dirty="0"/>
          </a:p>
        </p:txBody>
      </p:sp>
      <p:sp>
        <p:nvSpPr>
          <p:cNvPr id="36" name="Text 34"/>
          <p:cNvSpPr/>
          <p:nvPr/>
        </p:nvSpPr>
        <p:spPr>
          <a:xfrm>
            <a:off x="6492240" y="1325880"/>
            <a:ext cx="1965960" cy="274320"/>
          </a:xfrm>
          <a:prstGeom prst="rect">
            <a:avLst/>
          </a:prstGeom>
          <a:noFill/>
          <a:ln/>
        </p:spPr>
        <p:txBody>
          <a:bodyPr wrap="square" lIns="0" tIns="0" rIns="0" bIns="0" rtlCol="0" anchor="ctr"/>
          <a:lstStyle/>
          <a:p>
            <a:pPr marL="0" indent="0">
              <a:buNone/>
            </a:pPr>
            <a:r>
              <a:rPr lang="en-US" sz="1400" b="1" dirty="0">
                <a:solidFill>
                  <a:srgbClr val="0D1B2A"/>
                </a:solidFill>
                <a:latin typeface="Trebuchet MS" pitchFamily="34" charset="0"/>
                <a:ea typeface="Trebuchet MS" pitchFamily="34" charset="-122"/>
                <a:cs typeface="Trebuchet MS" pitchFamily="34" charset="-120"/>
              </a:rPr>
              <a:t>En la Venta</a:t>
            </a:r>
            <a:endParaRPr lang="en-US" sz="1400" dirty="0"/>
          </a:p>
        </p:txBody>
      </p:sp>
      <p:sp>
        <p:nvSpPr>
          <p:cNvPr id="37" name="Shape 35"/>
          <p:cNvSpPr/>
          <p:nvPr/>
        </p:nvSpPr>
        <p:spPr>
          <a:xfrm>
            <a:off x="6089904" y="1682496"/>
            <a:ext cx="2350008" cy="22860"/>
          </a:xfrm>
          <a:prstGeom prst="rect">
            <a:avLst/>
          </a:prstGeom>
          <a:solidFill>
            <a:srgbClr val="E2EAF2"/>
          </a:solidFill>
          <a:ln w="12700">
            <a:solidFill>
              <a:srgbClr val="E2EAF2"/>
            </a:solidFill>
            <a:prstDash val="solid"/>
          </a:ln>
        </p:spPr>
        <p:txBody>
          <a:bodyPr/>
          <a:lstStyle/>
          <a:p>
            <a:endParaRPr lang="es-ES"/>
          </a:p>
        </p:txBody>
      </p:sp>
      <p:sp>
        <p:nvSpPr>
          <p:cNvPr id="38" name="Shape 36"/>
          <p:cNvSpPr/>
          <p:nvPr/>
        </p:nvSpPr>
        <p:spPr>
          <a:xfrm>
            <a:off x="6089904" y="1837944"/>
            <a:ext cx="54864" cy="54864"/>
          </a:xfrm>
          <a:prstGeom prst="rect">
            <a:avLst/>
          </a:prstGeom>
          <a:solidFill>
            <a:srgbClr val="00B4A0"/>
          </a:solidFill>
          <a:ln w="12700">
            <a:solidFill>
              <a:srgbClr val="00B4A0"/>
            </a:solidFill>
            <a:prstDash val="solid"/>
          </a:ln>
        </p:spPr>
        <p:txBody>
          <a:bodyPr/>
          <a:lstStyle/>
          <a:p>
            <a:endParaRPr lang="es-ES"/>
          </a:p>
        </p:txBody>
      </p:sp>
      <p:sp>
        <p:nvSpPr>
          <p:cNvPr id="39" name="Text 37"/>
          <p:cNvSpPr/>
          <p:nvPr/>
        </p:nvSpPr>
        <p:spPr>
          <a:xfrm>
            <a:off x="6199632" y="1792224"/>
            <a:ext cx="2258568" cy="786384"/>
          </a:xfrm>
          <a:prstGeom prst="rect">
            <a:avLst/>
          </a:prstGeom>
          <a:noFill/>
          <a:ln/>
        </p:spPr>
        <p:txBody>
          <a:bodyPr wrap="square" lIns="0" tIns="0" rIns="0" bIns="0" rtlCol="0" anchor="ctr"/>
          <a:lstStyle/>
          <a:p>
            <a:pPr marL="0" indent="0">
              <a:buNone/>
            </a:pPr>
            <a:r>
              <a:rPr lang="en-US" sz="950" b="1" dirty="0">
                <a:solidFill>
                  <a:srgbClr val="0D1B2A"/>
                </a:solidFill>
                <a:latin typeface="Calibri" pitchFamily="34" charset="0"/>
                <a:ea typeface="Calibri" pitchFamily="34" charset="-122"/>
                <a:cs typeface="Calibri" pitchFamily="34" charset="-120"/>
              </a:rPr>
              <a:t>Márgenes abusivos:</a:t>
            </a:r>
            <a:r>
              <a:rPr lang="en-US" sz="950" dirty="0">
                <a:solidFill>
                  <a:srgbClr val="1A2E44"/>
                </a:solidFill>
                <a:latin typeface="Calibri" pitchFamily="34" charset="0"/>
                <a:ea typeface="Calibri" pitchFamily="34" charset="-122"/>
                <a:cs typeface="Calibri" pitchFamily="34" charset="-120"/>
              </a:rPr>
              <a:t> los compraventas compran al particular muy por debajo del precio de mercado y venden con márgenes elevados, capturando el valor que debería quedar en el vendedor.</a:t>
            </a:r>
            <a:endParaRPr lang="en-US" sz="950" dirty="0"/>
          </a:p>
        </p:txBody>
      </p:sp>
      <p:sp>
        <p:nvSpPr>
          <p:cNvPr id="40" name="Shape 38"/>
          <p:cNvSpPr/>
          <p:nvPr/>
        </p:nvSpPr>
        <p:spPr>
          <a:xfrm>
            <a:off x="6089904" y="2688336"/>
            <a:ext cx="54864" cy="54864"/>
          </a:xfrm>
          <a:prstGeom prst="rect">
            <a:avLst/>
          </a:prstGeom>
          <a:solidFill>
            <a:srgbClr val="00B4A0"/>
          </a:solidFill>
          <a:ln w="12700">
            <a:solidFill>
              <a:srgbClr val="00B4A0"/>
            </a:solidFill>
            <a:prstDash val="solid"/>
          </a:ln>
        </p:spPr>
        <p:txBody>
          <a:bodyPr/>
          <a:lstStyle/>
          <a:p>
            <a:endParaRPr lang="es-ES"/>
          </a:p>
        </p:txBody>
      </p:sp>
      <p:sp>
        <p:nvSpPr>
          <p:cNvPr id="41" name="Text 39"/>
          <p:cNvSpPr/>
          <p:nvPr/>
        </p:nvSpPr>
        <p:spPr>
          <a:xfrm>
            <a:off x="6199632" y="2642616"/>
            <a:ext cx="2258568" cy="786384"/>
          </a:xfrm>
          <a:prstGeom prst="rect">
            <a:avLst/>
          </a:prstGeom>
          <a:noFill/>
          <a:ln/>
        </p:spPr>
        <p:txBody>
          <a:bodyPr wrap="square" lIns="0" tIns="0" rIns="0" bIns="0" rtlCol="0" anchor="ctr"/>
          <a:lstStyle/>
          <a:p>
            <a:pPr marL="0" indent="0">
              <a:buNone/>
            </a:pPr>
            <a:r>
              <a:rPr lang="en-US" sz="950" b="1" dirty="0">
                <a:solidFill>
                  <a:srgbClr val="0D1B2A"/>
                </a:solidFill>
                <a:latin typeface="Calibri" pitchFamily="34" charset="0"/>
                <a:ea typeface="Calibri" pitchFamily="34" charset="-122"/>
                <a:cs typeface="Calibri" pitchFamily="34" charset="-120"/>
              </a:rPr>
              <a:t>Desconocimiento del mercado:</a:t>
            </a:r>
            <a:r>
              <a:rPr lang="en-US" sz="950" dirty="0">
                <a:solidFill>
                  <a:srgbClr val="1A2E44"/>
                </a:solidFill>
                <a:latin typeface="Calibri" pitchFamily="34" charset="0"/>
                <a:ea typeface="Calibri" pitchFamily="34" charset="-122"/>
                <a:cs typeface="Calibri" pitchFamily="34" charset="-120"/>
              </a:rPr>
              <a:t> el particular no tiene un canal profesionalizado donde vender su vehículo de forma directa, sin depender de un intermediario físico.</a:t>
            </a:r>
            <a:endParaRPr lang="en-US" sz="950" dirty="0"/>
          </a:p>
        </p:txBody>
      </p:sp>
      <p:sp>
        <p:nvSpPr>
          <p:cNvPr id="42" name="Shape 40"/>
          <p:cNvSpPr/>
          <p:nvPr/>
        </p:nvSpPr>
        <p:spPr>
          <a:xfrm>
            <a:off x="6089904" y="3538728"/>
            <a:ext cx="54864" cy="54864"/>
          </a:xfrm>
          <a:prstGeom prst="rect">
            <a:avLst/>
          </a:prstGeom>
          <a:solidFill>
            <a:srgbClr val="00B4A0"/>
          </a:solidFill>
          <a:ln w="12700">
            <a:solidFill>
              <a:srgbClr val="00B4A0"/>
            </a:solidFill>
            <a:prstDash val="solid"/>
          </a:ln>
        </p:spPr>
        <p:txBody>
          <a:bodyPr/>
          <a:lstStyle/>
          <a:p>
            <a:endParaRPr lang="es-ES"/>
          </a:p>
        </p:txBody>
      </p:sp>
      <p:sp>
        <p:nvSpPr>
          <p:cNvPr id="43" name="Text 41"/>
          <p:cNvSpPr/>
          <p:nvPr/>
        </p:nvSpPr>
        <p:spPr>
          <a:xfrm>
            <a:off x="6199632" y="3493008"/>
            <a:ext cx="2258568" cy="786384"/>
          </a:xfrm>
          <a:prstGeom prst="rect">
            <a:avLst/>
          </a:prstGeom>
          <a:noFill/>
          <a:ln/>
        </p:spPr>
        <p:txBody>
          <a:bodyPr wrap="square" lIns="0" tIns="0" rIns="0" bIns="0" rtlCol="0" anchor="ctr"/>
          <a:lstStyle/>
          <a:p>
            <a:pPr marL="0" indent="0">
              <a:buNone/>
            </a:pPr>
            <a:r>
              <a:rPr lang="en-US" sz="950" b="1" dirty="0">
                <a:solidFill>
                  <a:srgbClr val="0D1B2A"/>
                </a:solidFill>
                <a:latin typeface="Calibri" pitchFamily="34" charset="0"/>
                <a:ea typeface="Calibri" pitchFamily="34" charset="-122"/>
                <a:cs typeface="Calibri" pitchFamily="34" charset="-120"/>
              </a:rPr>
              <a:t>Garantías del vehículo:</a:t>
            </a:r>
            <a:r>
              <a:rPr lang="en-US" sz="950" dirty="0">
                <a:solidFill>
                  <a:srgbClr val="1A2E44"/>
                </a:solidFill>
                <a:latin typeface="Calibri" pitchFamily="34" charset="0"/>
                <a:ea typeface="Calibri" pitchFamily="34" charset="-122"/>
                <a:cs typeface="Calibri" pitchFamily="34" charset="-120"/>
              </a:rPr>
              <a:t> solo los profesionales pueden certificar el estado del coche y venderlo con garantía, lo que penaliza al particular en precio y velocidad de venta.</a:t>
            </a:r>
            <a:endParaRPr lang="en-US" sz="950" dirty="0"/>
          </a:p>
        </p:txBody>
      </p:sp>
      <p:sp>
        <p:nvSpPr>
          <p:cNvPr id="44" name="Shape 42"/>
          <p:cNvSpPr/>
          <p:nvPr/>
        </p:nvSpPr>
        <p:spPr>
          <a:xfrm>
            <a:off x="5925312" y="4279392"/>
            <a:ext cx="2679192" cy="658368"/>
          </a:xfrm>
          <a:prstGeom prst="rect">
            <a:avLst/>
          </a:prstGeom>
          <a:solidFill>
            <a:srgbClr val="0D1B2A"/>
          </a:solidFill>
          <a:ln w="12700">
            <a:solidFill>
              <a:srgbClr val="0D1B2A"/>
            </a:solidFill>
            <a:prstDash val="solid"/>
          </a:ln>
        </p:spPr>
        <p:txBody>
          <a:bodyPr/>
          <a:lstStyle/>
          <a:p>
            <a:endParaRPr lang="es-ES"/>
          </a:p>
        </p:txBody>
      </p:sp>
      <p:sp>
        <p:nvSpPr>
          <p:cNvPr id="45" name="Text 43"/>
          <p:cNvSpPr/>
          <p:nvPr/>
        </p:nvSpPr>
        <p:spPr>
          <a:xfrm>
            <a:off x="6071616" y="4297680"/>
            <a:ext cx="1473556" cy="384048"/>
          </a:xfrm>
          <a:prstGeom prst="rect">
            <a:avLst/>
          </a:prstGeom>
          <a:noFill/>
          <a:ln/>
        </p:spPr>
        <p:txBody>
          <a:bodyPr wrap="square" lIns="0" tIns="0" rIns="0" bIns="0" rtlCol="0" anchor="ctr"/>
          <a:lstStyle/>
          <a:p>
            <a:pPr marL="0" indent="0">
              <a:buNone/>
            </a:pPr>
            <a:r>
              <a:rPr lang="en-US" sz="2200" b="1" dirty="0">
                <a:solidFill>
                  <a:srgbClr val="00B4A0"/>
                </a:solidFill>
                <a:latin typeface="Trebuchet MS" pitchFamily="34" charset="0"/>
                <a:ea typeface="Trebuchet MS" pitchFamily="34" charset="-122"/>
                <a:cs typeface="Trebuchet MS" pitchFamily="34" charset="-120"/>
              </a:rPr>
              <a:t>5–15%</a:t>
            </a:r>
            <a:endParaRPr lang="en-US" sz="2200" dirty="0"/>
          </a:p>
        </p:txBody>
      </p:sp>
      <p:sp>
        <p:nvSpPr>
          <p:cNvPr id="46" name="Text 44"/>
          <p:cNvSpPr/>
          <p:nvPr/>
        </p:nvSpPr>
        <p:spPr>
          <a:xfrm>
            <a:off x="6071616" y="4663440"/>
            <a:ext cx="2478024" cy="219456"/>
          </a:xfrm>
          <a:prstGeom prst="rect">
            <a:avLst/>
          </a:prstGeom>
          <a:noFill/>
          <a:ln/>
        </p:spPr>
        <p:txBody>
          <a:bodyPr wrap="square" lIns="0" tIns="0" rIns="0" bIns="0" rtlCol="0" anchor="ctr"/>
          <a:lstStyle/>
          <a:p>
            <a:pPr marL="0" indent="0">
              <a:buNone/>
            </a:pPr>
            <a:r>
              <a:rPr lang="en-US" sz="800" dirty="0">
                <a:solidFill>
                  <a:srgbClr val="8BA4BC"/>
                </a:solidFill>
                <a:latin typeface="Calibri" pitchFamily="34" charset="0"/>
                <a:ea typeface="Calibri" pitchFamily="34" charset="-122"/>
                <a:cs typeface="Calibri" pitchFamily="34" charset="-120"/>
              </a:rPr>
              <a:t>valor perdido al vender por canales habituales</a:t>
            </a:r>
            <a:endParaRPr lang="en-US" sz="800" dirty="0"/>
          </a:p>
        </p:txBody>
      </p:sp>
      <p:pic>
        <p:nvPicPr>
          <p:cNvPr id="47" name="Image 0" descr="preencoded.png">
            <a:extLst>
              <a:ext uri="{FF2B5EF4-FFF2-40B4-BE49-F238E27FC236}">
                <a16:creationId xmlns:a16="http://schemas.microsoft.com/office/drawing/2014/main" id="{FAD59895-994C-E715-E6BA-F979A68A9F44}"/>
              </a:ext>
            </a:extLst>
          </p:cNvPr>
          <p:cNvPicPr>
            <a:picLocks noChangeAspect="1"/>
          </p:cNvPicPr>
          <p:nvPr/>
        </p:nvPicPr>
        <p:blipFill>
          <a:blip r:embed="rId3"/>
          <a:stretch>
            <a:fillRect/>
          </a:stretch>
        </p:blipFill>
        <p:spPr>
          <a:xfrm>
            <a:off x="7909560" y="91440"/>
            <a:ext cx="1005840" cy="7579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7863840" y="64008"/>
            <a:ext cx="1097280" cy="812844"/>
          </a:xfrm>
          <a:prstGeom prst="roundRect">
            <a:avLst>
              <a:gd name="adj" fmla="val 9000"/>
            </a:avLst>
          </a:prstGeom>
          <a:solidFill>
            <a:srgbClr val="FFFFFF"/>
          </a:solidFill>
          <a:ln w="12700">
            <a:solidFill>
              <a:srgbClr val="FFFFFF"/>
            </a:solidFill>
            <a:prstDash val="solid"/>
          </a:ln>
        </p:spPr>
        <p:txBody>
          <a:bodyPr/>
          <a:lstStyle/>
          <a:p>
            <a:endParaRPr lang="es-ES"/>
          </a:p>
        </p:txBody>
      </p:sp>
      <p:pic>
        <p:nvPicPr>
          <p:cNvPr id="3" name="Image 0" descr="preencoded.png"/>
          <p:cNvPicPr>
            <a:picLocks noChangeAspect="1"/>
          </p:cNvPicPr>
          <p:nvPr/>
        </p:nvPicPr>
        <p:blipFill>
          <a:blip r:embed="rId3"/>
          <a:stretch>
            <a:fillRect/>
          </a:stretch>
        </p:blipFill>
        <p:spPr>
          <a:xfrm>
            <a:off x="7909560" y="91440"/>
            <a:ext cx="1005840" cy="757980"/>
          </a:xfrm>
          <a:prstGeom prst="rect">
            <a:avLst/>
          </a:prstGeom>
        </p:spPr>
      </p:pic>
      <p:sp>
        <p:nvSpPr>
          <p:cNvPr id="4" name="Text 1"/>
          <p:cNvSpPr/>
          <p:nvPr/>
        </p:nvSpPr>
        <p:spPr>
          <a:xfrm>
            <a:off x="457200" y="256032"/>
            <a:ext cx="4572000" cy="201168"/>
          </a:xfrm>
          <a:prstGeom prst="rect">
            <a:avLst/>
          </a:prstGeom>
          <a:noFill/>
          <a:ln/>
        </p:spPr>
        <p:txBody>
          <a:bodyPr wrap="square" lIns="0" tIns="0" rIns="0" bIns="0" rtlCol="0" anchor="ctr"/>
          <a:lstStyle/>
          <a:p>
            <a:pPr marL="0" indent="0">
              <a:buNone/>
            </a:pPr>
            <a:r>
              <a:rPr lang="en-US" sz="800" b="1" kern="0" spc="300" dirty="0">
                <a:solidFill>
                  <a:srgbClr val="00B4A0"/>
                </a:solidFill>
                <a:latin typeface="Calibri" pitchFamily="34" charset="0"/>
                <a:ea typeface="Calibri" pitchFamily="34" charset="-122"/>
                <a:cs typeface="Calibri" pitchFamily="34" charset="-120"/>
              </a:rPr>
              <a:t>LA SOLUCIÓN</a:t>
            </a:r>
            <a:endParaRPr lang="en-US" sz="800" dirty="0"/>
          </a:p>
        </p:txBody>
      </p:sp>
      <p:sp>
        <p:nvSpPr>
          <p:cNvPr id="5" name="Text 2"/>
          <p:cNvSpPr/>
          <p:nvPr/>
        </p:nvSpPr>
        <p:spPr>
          <a:xfrm>
            <a:off x="457200" y="402336"/>
            <a:ext cx="7132320" cy="71323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Una plataforma. Tres momentos.</a:t>
            </a:r>
            <a:endParaRPr lang="en-US" sz="2200" dirty="0"/>
          </a:p>
          <a:p>
            <a:pPr marL="0" indent="0">
              <a:buNone/>
            </a:pPr>
            <a:r>
              <a:rPr lang="en-US" sz="2200" b="1" dirty="0">
                <a:solidFill>
                  <a:srgbClr val="FFFFFF"/>
                </a:solidFill>
                <a:latin typeface="Trebuchet MS" pitchFamily="34" charset="0"/>
                <a:ea typeface="Trebuchet MS" pitchFamily="34" charset="-122"/>
                <a:cs typeface="Trebuchet MS" pitchFamily="34" charset="-120"/>
              </a:rPr>
              <a:t>Un particular empoderado.</a:t>
            </a:r>
            <a:endParaRPr lang="en-US" sz="2200" dirty="0"/>
          </a:p>
        </p:txBody>
      </p:sp>
      <p:sp>
        <p:nvSpPr>
          <p:cNvPr id="6" name="Shape 3"/>
          <p:cNvSpPr/>
          <p:nvPr/>
        </p:nvSpPr>
        <p:spPr>
          <a:xfrm>
            <a:off x="457200" y="1188720"/>
            <a:ext cx="2633472" cy="3703320"/>
          </a:xfrm>
          <a:prstGeom prst="rect">
            <a:avLst/>
          </a:prstGeom>
          <a:solidFill>
            <a:srgbClr val="1A2E44"/>
          </a:solidFill>
          <a:ln w="12700">
            <a:solidFill>
              <a:srgbClr val="1E3A5A"/>
            </a:solidFill>
            <a:prstDash val="solid"/>
          </a:ln>
        </p:spPr>
        <p:txBody>
          <a:bodyPr/>
          <a:lstStyle/>
          <a:p>
            <a:endParaRPr lang="es-ES"/>
          </a:p>
        </p:txBody>
      </p:sp>
      <p:sp>
        <p:nvSpPr>
          <p:cNvPr id="7" name="Shape 4"/>
          <p:cNvSpPr/>
          <p:nvPr/>
        </p:nvSpPr>
        <p:spPr>
          <a:xfrm>
            <a:off x="457200" y="1188720"/>
            <a:ext cx="2633472" cy="658368"/>
          </a:xfrm>
          <a:prstGeom prst="rect">
            <a:avLst/>
          </a:prstGeom>
          <a:solidFill>
            <a:srgbClr val="00B4A0"/>
          </a:solidFill>
          <a:ln w="12700">
            <a:solidFill>
              <a:srgbClr val="00B4A0"/>
            </a:solidFill>
            <a:prstDash val="solid"/>
          </a:ln>
        </p:spPr>
        <p:txBody>
          <a:bodyPr/>
          <a:lstStyle/>
          <a:p>
            <a:endParaRPr lang="es-ES"/>
          </a:p>
        </p:txBody>
      </p:sp>
      <p:sp>
        <p:nvSpPr>
          <p:cNvPr id="8" name="Text 5"/>
          <p:cNvSpPr/>
          <p:nvPr/>
        </p:nvSpPr>
        <p:spPr>
          <a:xfrm>
            <a:off x="621792" y="1243584"/>
            <a:ext cx="2377440" cy="182880"/>
          </a:xfrm>
          <a:prstGeom prst="rect">
            <a:avLst/>
          </a:prstGeom>
          <a:noFill/>
          <a:ln/>
        </p:spPr>
        <p:txBody>
          <a:bodyPr wrap="square" lIns="0" tIns="0" rIns="0" bIns="0" rtlCol="0" anchor="ctr"/>
          <a:lstStyle/>
          <a:p>
            <a:pPr marL="0" indent="0">
              <a:buNone/>
            </a:pPr>
            <a:r>
              <a:rPr lang="en-US" sz="750" b="1" kern="0" spc="200" dirty="0">
                <a:solidFill>
                  <a:srgbClr val="0D1B2A"/>
                </a:solidFill>
                <a:latin typeface="Calibri" pitchFamily="34" charset="0"/>
                <a:ea typeface="Calibri" pitchFamily="34" charset="-122"/>
                <a:cs typeface="Calibri" pitchFamily="34" charset="-120"/>
              </a:rPr>
              <a:t>01 · COMPRA</a:t>
            </a:r>
            <a:endParaRPr lang="en-US" sz="750" dirty="0"/>
          </a:p>
        </p:txBody>
      </p:sp>
      <p:sp>
        <p:nvSpPr>
          <p:cNvPr id="9" name="Text 6"/>
          <p:cNvSpPr/>
          <p:nvPr/>
        </p:nvSpPr>
        <p:spPr>
          <a:xfrm>
            <a:off x="621792" y="1426464"/>
            <a:ext cx="2377440" cy="384048"/>
          </a:xfrm>
          <a:prstGeom prst="rect">
            <a:avLst/>
          </a:prstGeom>
          <a:noFill/>
          <a:ln/>
        </p:spPr>
        <p:txBody>
          <a:bodyPr wrap="square" lIns="0" tIns="0" rIns="0" bIns="0" rtlCol="0" anchor="ctr"/>
          <a:lstStyle/>
          <a:p>
            <a:pPr marL="0" indent="0">
              <a:buNone/>
            </a:pPr>
            <a:r>
              <a:rPr lang="en-US" sz="1100" b="1" dirty="0">
                <a:solidFill>
                  <a:srgbClr val="0D1B2A"/>
                </a:solidFill>
                <a:latin typeface="Trebuchet MS" pitchFamily="34" charset="0"/>
                <a:ea typeface="Trebuchet MS" pitchFamily="34" charset="-122"/>
                <a:cs typeface="Trebuchet MS" pitchFamily="34" charset="-120"/>
              </a:rPr>
              <a:t>Encuentra el coche ideal</a:t>
            </a:r>
            <a:endParaRPr lang="en-US" sz="1100" dirty="0"/>
          </a:p>
        </p:txBody>
      </p:sp>
      <p:sp>
        <p:nvSpPr>
          <p:cNvPr id="10" name="Shape 7"/>
          <p:cNvSpPr/>
          <p:nvPr/>
        </p:nvSpPr>
        <p:spPr>
          <a:xfrm>
            <a:off x="621792" y="2048256"/>
            <a:ext cx="118872" cy="118872"/>
          </a:xfrm>
          <a:prstGeom prst="ellipse">
            <a:avLst/>
          </a:prstGeom>
          <a:solidFill>
            <a:srgbClr val="00B4A0"/>
          </a:solidFill>
          <a:ln w="12700">
            <a:solidFill>
              <a:srgbClr val="00B4A0"/>
            </a:solidFill>
            <a:prstDash val="solid"/>
          </a:ln>
        </p:spPr>
        <p:txBody>
          <a:bodyPr/>
          <a:lstStyle/>
          <a:p>
            <a:endParaRPr lang="es-ES"/>
          </a:p>
        </p:txBody>
      </p:sp>
      <p:sp>
        <p:nvSpPr>
          <p:cNvPr id="11" name="Shape 8"/>
          <p:cNvSpPr/>
          <p:nvPr/>
        </p:nvSpPr>
        <p:spPr>
          <a:xfrm>
            <a:off x="672084" y="2167128"/>
            <a:ext cx="18288" cy="594360"/>
          </a:xfrm>
          <a:prstGeom prst="rect">
            <a:avLst/>
          </a:prstGeom>
          <a:solidFill>
            <a:srgbClr val="1E5A50"/>
          </a:solidFill>
          <a:ln w="12700">
            <a:solidFill>
              <a:srgbClr val="1E5A50"/>
            </a:solidFill>
            <a:prstDash val="solid"/>
          </a:ln>
        </p:spPr>
        <p:txBody>
          <a:bodyPr/>
          <a:lstStyle/>
          <a:p>
            <a:endParaRPr lang="es-ES"/>
          </a:p>
        </p:txBody>
      </p:sp>
      <p:sp>
        <p:nvSpPr>
          <p:cNvPr id="12" name="Text 9"/>
          <p:cNvSpPr/>
          <p:nvPr/>
        </p:nvSpPr>
        <p:spPr>
          <a:xfrm>
            <a:off x="786384" y="2011680"/>
            <a:ext cx="2157984" cy="164592"/>
          </a:xfrm>
          <a:prstGeom prst="rect">
            <a:avLst/>
          </a:prstGeom>
          <a:noFill/>
          <a:ln/>
        </p:spPr>
        <p:txBody>
          <a:bodyPr wrap="square" lIns="0" tIns="0" rIns="0" bIns="0" rtlCol="0" anchor="ctr"/>
          <a:lstStyle/>
          <a:p>
            <a:pPr marL="0" indent="0">
              <a:buNone/>
            </a:pPr>
            <a:r>
              <a:rPr lang="en-US" sz="850" b="1" dirty="0">
                <a:solidFill>
                  <a:srgbClr val="00B4A0"/>
                </a:solidFill>
                <a:latin typeface="Calibri" pitchFamily="34" charset="0"/>
                <a:ea typeface="Calibri" pitchFamily="34" charset="-122"/>
                <a:cs typeface="Calibri" pitchFamily="34" charset="-120"/>
              </a:rPr>
              <a:t>AI Score</a:t>
            </a:r>
            <a:endParaRPr lang="en-US" sz="850" dirty="0"/>
          </a:p>
        </p:txBody>
      </p:sp>
      <p:sp>
        <p:nvSpPr>
          <p:cNvPr id="13" name="Text 10"/>
          <p:cNvSpPr/>
          <p:nvPr/>
        </p:nvSpPr>
        <p:spPr>
          <a:xfrm>
            <a:off x="786384" y="2176272"/>
            <a:ext cx="2157984" cy="512064"/>
          </a:xfrm>
          <a:prstGeom prst="rect">
            <a:avLst/>
          </a:prstGeom>
          <a:noFill/>
          <a:ln/>
        </p:spPr>
        <p:txBody>
          <a:bodyPr wrap="square" lIns="0" tIns="0" rIns="0" bIns="0" rtlCol="0" anchor="ctr"/>
          <a:lstStyle/>
          <a:p>
            <a:pPr marL="0" indent="0">
              <a:buNone/>
            </a:pPr>
            <a:r>
              <a:rPr lang="en-US" sz="850" dirty="0">
                <a:solidFill>
                  <a:srgbClr val="E2EAF2"/>
                </a:solidFill>
                <a:latin typeface="Calibri" pitchFamily="34" charset="0"/>
                <a:ea typeface="Calibri" pitchFamily="34" charset="-122"/>
                <a:cs typeface="Calibri" pitchFamily="34" charset="-120"/>
              </a:rPr>
              <a:t>¿No sabes qué modelo? Respondemos un cuestionario y el AI Score recomienda el vehículo que mejor encaja con tu perfil y necesidades.</a:t>
            </a:r>
            <a:endParaRPr lang="en-US" sz="850" dirty="0"/>
          </a:p>
        </p:txBody>
      </p:sp>
      <p:sp>
        <p:nvSpPr>
          <p:cNvPr id="14" name="Shape 11"/>
          <p:cNvSpPr/>
          <p:nvPr/>
        </p:nvSpPr>
        <p:spPr>
          <a:xfrm>
            <a:off x="621792" y="2779776"/>
            <a:ext cx="118872" cy="118872"/>
          </a:xfrm>
          <a:prstGeom prst="ellipse">
            <a:avLst/>
          </a:prstGeom>
          <a:solidFill>
            <a:srgbClr val="00B4A0"/>
          </a:solidFill>
          <a:ln w="12700">
            <a:solidFill>
              <a:srgbClr val="00B4A0"/>
            </a:solidFill>
            <a:prstDash val="solid"/>
          </a:ln>
        </p:spPr>
        <p:txBody>
          <a:bodyPr/>
          <a:lstStyle/>
          <a:p>
            <a:endParaRPr lang="es-ES"/>
          </a:p>
        </p:txBody>
      </p:sp>
      <p:sp>
        <p:nvSpPr>
          <p:cNvPr id="15" name="Shape 12"/>
          <p:cNvSpPr/>
          <p:nvPr/>
        </p:nvSpPr>
        <p:spPr>
          <a:xfrm>
            <a:off x="672084" y="2898648"/>
            <a:ext cx="18288" cy="594360"/>
          </a:xfrm>
          <a:prstGeom prst="rect">
            <a:avLst/>
          </a:prstGeom>
          <a:solidFill>
            <a:srgbClr val="1E5A50"/>
          </a:solidFill>
          <a:ln w="12700">
            <a:solidFill>
              <a:srgbClr val="1E5A50"/>
            </a:solidFill>
            <a:prstDash val="solid"/>
          </a:ln>
        </p:spPr>
        <p:txBody>
          <a:bodyPr/>
          <a:lstStyle/>
          <a:p>
            <a:endParaRPr lang="es-ES"/>
          </a:p>
        </p:txBody>
      </p:sp>
      <p:sp>
        <p:nvSpPr>
          <p:cNvPr id="16" name="Text 13"/>
          <p:cNvSpPr/>
          <p:nvPr/>
        </p:nvSpPr>
        <p:spPr>
          <a:xfrm>
            <a:off x="786384" y="2743200"/>
            <a:ext cx="2157984" cy="164592"/>
          </a:xfrm>
          <a:prstGeom prst="rect">
            <a:avLst/>
          </a:prstGeom>
          <a:noFill/>
          <a:ln/>
        </p:spPr>
        <p:txBody>
          <a:bodyPr wrap="square" lIns="0" tIns="0" rIns="0" bIns="0" rtlCol="0" anchor="ctr"/>
          <a:lstStyle/>
          <a:p>
            <a:pPr marL="0" indent="0">
              <a:buNone/>
            </a:pPr>
            <a:r>
              <a:rPr lang="en-US" sz="850" b="1" dirty="0">
                <a:solidFill>
                  <a:srgbClr val="00B4A0"/>
                </a:solidFill>
                <a:latin typeface="Calibri" pitchFamily="34" charset="0"/>
                <a:ea typeface="Calibri" pitchFamily="34" charset="-122"/>
                <a:cs typeface="Calibri" pitchFamily="34" charset="-120"/>
              </a:rPr>
              <a:t>Rating VO</a:t>
            </a:r>
            <a:endParaRPr lang="en-US" sz="850" dirty="0"/>
          </a:p>
        </p:txBody>
      </p:sp>
      <p:sp>
        <p:nvSpPr>
          <p:cNvPr id="17" name="Text 14"/>
          <p:cNvSpPr/>
          <p:nvPr/>
        </p:nvSpPr>
        <p:spPr>
          <a:xfrm>
            <a:off x="786384" y="2907792"/>
            <a:ext cx="2157984" cy="512064"/>
          </a:xfrm>
          <a:prstGeom prst="rect">
            <a:avLst/>
          </a:prstGeom>
          <a:noFill/>
          <a:ln/>
        </p:spPr>
        <p:txBody>
          <a:bodyPr wrap="square" lIns="0" tIns="0" rIns="0" bIns="0" rtlCol="0" anchor="ctr"/>
          <a:lstStyle/>
          <a:p>
            <a:pPr marL="0" indent="0">
              <a:buNone/>
            </a:pPr>
            <a:r>
              <a:rPr lang="en-US" sz="850" dirty="0">
                <a:solidFill>
                  <a:srgbClr val="E2EAF2"/>
                </a:solidFill>
                <a:latin typeface="Calibri" pitchFamily="34" charset="0"/>
                <a:ea typeface="Calibri" pitchFamily="34" charset="-122"/>
                <a:cs typeface="Calibri" pitchFamily="34" charset="-120"/>
              </a:rPr>
              <a:t>Integramos todas las plataformas de venta (vía Motoreto): precio, proveedor, km, tiempo en mercado. Generamos un ranking diario de las 5 mejores opciones.</a:t>
            </a:r>
            <a:endParaRPr lang="en-US" sz="850" dirty="0"/>
          </a:p>
        </p:txBody>
      </p:sp>
      <p:sp>
        <p:nvSpPr>
          <p:cNvPr id="18" name="Shape 15"/>
          <p:cNvSpPr/>
          <p:nvPr/>
        </p:nvSpPr>
        <p:spPr>
          <a:xfrm>
            <a:off x="621792" y="3511296"/>
            <a:ext cx="118872" cy="118872"/>
          </a:xfrm>
          <a:prstGeom prst="ellipse">
            <a:avLst/>
          </a:prstGeom>
          <a:solidFill>
            <a:srgbClr val="00B4A0"/>
          </a:solidFill>
          <a:ln w="12700">
            <a:solidFill>
              <a:srgbClr val="00B4A0"/>
            </a:solidFill>
            <a:prstDash val="solid"/>
          </a:ln>
        </p:spPr>
        <p:txBody>
          <a:bodyPr/>
          <a:lstStyle/>
          <a:p>
            <a:endParaRPr lang="es-ES"/>
          </a:p>
        </p:txBody>
      </p:sp>
      <p:sp>
        <p:nvSpPr>
          <p:cNvPr id="19" name="Shape 16"/>
          <p:cNvSpPr/>
          <p:nvPr/>
        </p:nvSpPr>
        <p:spPr>
          <a:xfrm>
            <a:off x="672084" y="3630168"/>
            <a:ext cx="18288" cy="594360"/>
          </a:xfrm>
          <a:prstGeom prst="rect">
            <a:avLst/>
          </a:prstGeom>
          <a:solidFill>
            <a:srgbClr val="1E5A50"/>
          </a:solidFill>
          <a:ln w="12700">
            <a:solidFill>
              <a:srgbClr val="1E5A50"/>
            </a:solidFill>
            <a:prstDash val="solid"/>
          </a:ln>
        </p:spPr>
        <p:txBody>
          <a:bodyPr/>
          <a:lstStyle/>
          <a:p>
            <a:endParaRPr lang="es-ES"/>
          </a:p>
        </p:txBody>
      </p:sp>
      <p:sp>
        <p:nvSpPr>
          <p:cNvPr id="20" name="Text 17"/>
          <p:cNvSpPr/>
          <p:nvPr/>
        </p:nvSpPr>
        <p:spPr>
          <a:xfrm>
            <a:off x="786384" y="3474720"/>
            <a:ext cx="2157984" cy="164592"/>
          </a:xfrm>
          <a:prstGeom prst="rect">
            <a:avLst/>
          </a:prstGeom>
          <a:noFill/>
          <a:ln/>
        </p:spPr>
        <p:txBody>
          <a:bodyPr wrap="square" lIns="0" tIns="0" rIns="0" bIns="0" rtlCol="0" anchor="ctr"/>
          <a:lstStyle/>
          <a:p>
            <a:pPr marL="0" indent="0">
              <a:buNone/>
            </a:pPr>
            <a:r>
              <a:rPr lang="en-US" sz="850" b="1" dirty="0">
                <a:solidFill>
                  <a:srgbClr val="00B4A0"/>
                </a:solidFill>
                <a:latin typeface="Calibri" pitchFamily="34" charset="0"/>
                <a:ea typeface="Calibri" pitchFamily="34" charset="-122"/>
                <a:cs typeface="Calibri" pitchFamily="34" charset="-120"/>
              </a:rPr>
              <a:t>Visita</a:t>
            </a:r>
            <a:endParaRPr lang="en-US" sz="850" dirty="0"/>
          </a:p>
        </p:txBody>
      </p:sp>
      <p:sp>
        <p:nvSpPr>
          <p:cNvPr id="21" name="Text 18"/>
          <p:cNvSpPr/>
          <p:nvPr/>
        </p:nvSpPr>
        <p:spPr>
          <a:xfrm>
            <a:off x="786384" y="3639312"/>
            <a:ext cx="2157984" cy="512064"/>
          </a:xfrm>
          <a:prstGeom prst="rect">
            <a:avLst/>
          </a:prstGeom>
          <a:noFill/>
          <a:ln/>
        </p:spPr>
        <p:txBody>
          <a:bodyPr wrap="square" lIns="0" tIns="0" rIns="0" bIns="0" rtlCol="0" anchor="ctr"/>
          <a:lstStyle/>
          <a:p>
            <a:pPr marL="0" indent="0">
              <a:buNone/>
            </a:pPr>
            <a:r>
              <a:rPr lang="en-US" sz="850" dirty="0">
                <a:solidFill>
                  <a:srgbClr val="E2EAF2"/>
                </a:solidFill>
                <a:latin typeface="Calibri" pitchFamily="34" charset="0"/>
                <a:ea typeface="Calibri" pitchFamily="34" charset="-122"/>
                <a:cs typeface="Calibri" pitchFamily="34" charset="-120"/>
              </a:rPr>
              <a:t>Agenda la visita directamente con el distribuidor desde CarsWise.</a:t>
            </a:r>
            <a:endParaRPr lang="en-US" sz="850" dirty="0"/>
          </a:p>
        </p:txBody>
      </p:sp>
      <p:sp>
        <p:nvSpPr>
          <p:cNvPr id="22" name="Shape 19"/>
          <p:cNvSpPr/>
          <p:nvPr/>
        </p:nvSpPr>
        <p:spPr>
          <a:xfrm>
            <a:off x="621792" y="4242816"/>
            <a:ext cx="118872" cy="118872"/>
          </a:xfrm>
          <a:prstGeom prst="ellipse">
            <a:avLst/>
          </a:prstGeom>
          <a:solidFill>
            <a:srgbClr val="00B4A0"/>
          </a:solidFill>
          <a:ln w="12700">
            <a:solidFill>
              <a:srgbClr val="00B4A0"/>
            </a:solidFill>
            <a:prstDash val="solid"/>
          </a:ln>
        </p:spPr>
        <p:txBody>
          <a:bodyPr/>
          <a:lstStyle/>
          <a:p>
            <a:endParaRPr lang="es-ES"/>
          </a:p>
        </p:txBody>
      </p:sp>
      <p:sp>
        <p:nvSpPr>
          <p:cNvPr id="23" name="Text 20"/>
          <p:cNvSpPr/>
          <p:nvPr/>
        </p:nvSpPr>
        <p:spPr>
          <a:xfrm>
            <a:off x="786384" y="4206240"/>
            <a:ext cx="2157984" cy="164592"/>
          </a:xfrm>
          <a:prstGeom prst="rect">
            <a:avLst/>
          </a:prstGeom>
          <a:noFill/>
          <a:ln/>
        </p:spPr>
        <p:txBody>
          <a:bodyPr wrap="square" lIns="0" tIns="0" rIns="0" bIns="0" rtlCol="0" anchor="ctr"/>
          <a:lstStyle/>
          <a:p>
            <a:pPr marL="0" indent="0">
              <a:buNone/>
            </a:pPr>
            <a:r>
              <a:rPr lang="en-US" sz="850" b="1" dirty="0">
                <a:solidFill>
                  <a:srgbClr val="00B4A0"/>
                </a:solidFill>
                <a:latin typeface="Calibri" pitchFamily="34" charset="0"/>
                <a:ea typeface="Calibri" pitchFamily="34" charset="-122"/>
                <a:cs typeface="Calibri" pitchFamily="34" charset="-120"/>
              </a:rPr>
              <a:t>Financiación</a:t>
            </a:r>
            <a:endParaRPr lang="en-US" sz="850" dirty="0"/>
          </a:p>
        </p:txBody>
      </p:sp>
      <p:sp>
        <p:nvSpPr>
          <p:cNvPr id="24" name="Text 21"/>
          <p:cNvSpPr/>
          <p:nvPr/>
        </p:nvSpPr>
        <p:spPr>
          <a:xfrm>
            <a:off x="786384" y="4370832"/>
            <a:ext cx="2157984" cy="512064"/>
          </a:xfrm>
          <a:prstGeom prst="rect">
            <a:avLst/>
          </a:prstGeom>
          <a:noFill/>
          <a:ln/>
        </p:spPr>
        <p:txBody>
          <a:bodyPr wrap="square" lIns="0" tIns="0" rIns="0" bIns="0" rtlCol="0" anchor="ctr"/>
          <a:lstStyle/>
          <a:p>
            <a:pPr marL="0" indent="0">
              <a:buNone/>
            </a:pPr>
            <a:r>
              <a:rPr lang="en-US" sz="850" dirty="0">
                <a:solidFill>
                  <a:srgbClr val="E2EAF2"/>
                </a:solidFill>
                <a:latin typeface="Calibri" pitchFamily="34" charset="0"/>
                <a:ea typeface="Calibri" pitchFamily="34" charset="-122"/>
                <a:cs typeface="Calibri" pitchFamily="34" charset="-120"/>
              </a:rPr>
              <a:t>Crédito preconcedido más barato que el del punto de venta. El cliente llega ya financiado.</a:t>
            </a:r>
            <a:endParaRPr lang="en-US" sz="850" dirty="0"/>
          </a:p>
        </p:txBody>
      </p:sp>
      <p:sp>
        <p:nvSpPr>
          <p:cNvPr id="25" name="Shape 22"/>
          <p:cNvSpPr/>
          <p:nvPr/>
        </p:nvSpPr>
        <p:spPr>
          <a:xfrm>
            <a:off x="3255264" y="1188720"/>
            <a:ext cx="2633472" cy="3703320"/>
          </a:xfrm>
          <a:prstGeom prst="rect">
            <a:avLst/>
          </a:prstGeom>
          <a:solidFill>
            <a:srgbClr val="1A2E44"/>
          </a:solidFill>
          <a:ln w="12700">
            <a:solidFill>
              <a:srgbClr val="1E3A5A"/>
            </a:solidFill>
            <a:prstDash val="solid"/>
          </a:ln>
        </p:spPr>
        <p:txBody>
          <a:bodyPr/>
          <a:lstStyle/>
          <a:p>
            <a:endParaRPr lang="es-ES"/>
          </a:p>
        </p:txBody>
      </p:sp>
      <p:sp>
        <p:nvSpPr>
          <p:cNvPr id="26" name="Shape 23"/>
          <p:cNvSpPr/>
          <p:nvPr/>
        </p:nvSpPr>
        <p:spPr>
          <a:xfrm>
            <a:off x="3255264" y="1188720"/>
            <a:ext cx="2633472" cy="658368"/>
          </a:xfrm>
          <a:prstGeom prst="rect">
            <a:avLst/>
          </a:prstGeom>
          <a:solidFill>
            <a:srgbClr val="00B4A0"/>
          </a:solidFill>
          <a:ln w="12700">
            <a:solidFill>
              <a:srgbClr val="00B4A0"/>
            </a:solidFill>
            <a:prstDash val="solid"/>
          </a:ln>
        </p:spPr>
        <p:txBody>
          <a:bodyPr/>
          <a:lstStyle/>
          <a:p>
            <a:endParaRPr lang="es-ES"/>
          </a:p>
        </p:txBody>
      </p:sp>
      <p:sp>
        <p:nvSpPr>
          <p:cNvPr id="27" name="Text 24"/>
          <p:cNvSpPr/>
          <p:nvPr/>
        </p:nvSpPr>
        <p:spPr>
          <a:xfrm>
            <a:off x="3419856" y="1243584"/>
            <a:ext cx="2377440" cy="182880"/>
          </a:xfrm>
          <a:prstGeom prst="rect">
            <a:avLst/>
          </a:prstGeom>
          <a:noFill/>
          <a:ln/>
        </p:spPr>
        <p:txBody>
          <a:bodyPr wrap="square" lIns="0" tIns="0" rIns="0" bIns="0" rtlCol="0" anchor="ctr"/>
          <a:lstStyle/>
          <a:p>
            <a:pPr marL="0" indent="0">
              <a:buNone/>
            </a:pPr>
            <a:r>
              <a:rPr lang="en-US" sz="750" b="1" kern="0" spc="200" dirty="0">
                <a:solidFill>
                  <a:srgbClr val="0D1B2A"/>
                </a:solidFill>
                <a:latin typeface="Calibri" pitchFamily="34" charset="0"/>
                <a:ea typeface="Calibri" pitchFamily="34" charset="-122"/>
                <a:cs typeface="Calibri" pitchFamily="34" charset="-120"/>
              </a:rPr>
              <a:t>02 · GESTIÓN</a:t>
            </a:r>
            <a:endParaRPr lang="en-US" sz="750" dirty="0"/>
          </a:p>
        </p:txBody>
      </p:sp>
      <p:sp>
        <p:nvSpPr>
          <p:cNvPr id="28" name="Text 25"/>
          <p:cNvSpPr/>
          <p:nvPr/>
        </p:nvSpPr>
        <p:spPr>
          <a:xfrm>
            <a:off x="3419856" y="1426464"/>
            <a:ext cx="2377440" cy="384048"/>
          </a:xfrm>
          <a:prstGeom prst="rect">
            <a:avLst/>
          </a:prstGeom>
          <a:noFill/>
          <a:ln/>
        </p:spPr>
        <p:txBody>
          <a:bodyPr wrap="square" lIns="0" tIns="0" rIns="0" bIns="0" rtlCol="0" anchor="ctr"/>
          <a:lstStyle/>
          <a:p>
            <a:pPr marL="0" indent="0">
              <a:buNone/>
            </a:pPr>
            <a:r>
              <a:rPr lang="en-US" sz="1100" b="1" dirty="0">
                <a:solidFill>
                  <a:srgbClr val="0D1B2A"/>
                </a:solidFill>
                <a:latin typeface="Trebuchet MS" pitchFamily="34" charset="0"/>
                <a:ea typeface="Trebuchet MS" pitchFamily="34" charset="-122"/>
                <a:cs typeface="Trebuchet MS" pitchFamily="34" charset="-120"/>
              </a:rPr>
              <a:t>Gestiona tu vehículo como un profesional</a:t>
            </a:r>
            <a:endParaRPr lang="en-US" sz="1100" dirty="0"/>
          </a:p>
        </p:txBody>
      </p:sp>
      <p:sp>
        <p:nvSpPr>
          <p:cNvPr id="29" name="Shape 26"/>
          <p:cNvSpPr/>
          <p:nvPr/>
        </p:nvSpPr>
        <p:spPr>
          <a:xfrm>
            <a:off x="3419856" y="2048256"/>
            <a:ext cx="118872" cy="118872"/>
          </a:xfrm>
          <a:prstGeom prst="ellipse">
            <a:avLst/>
          </a:prstGeom>
          <a:solidFill>
            <a:srgbClr val="00B4A0"/>
          </a:solidFill>
          <a:ln w="12700">
            <a:solidFill>
              <a:srgbClr val="00B4A0"/>
            </a:solidFill>
            <a:prstDash val="solid"/>
          </a:ln>
        </p:spPr>
        <p:txBody>
          <a:bodyPr/>
          <a:lstStyle/>
          <a:p>
            <a:endParaRPr lang="es-ES"/>
          </a:p>
        </p:txBody>
      </p:sp>
      <p:sp>
        <p:nvSpPr>
          <p:cNvPr id="30" name="Shape 27"/>
          <p:cNvSpPr/>
          <p:nvPr/>
        </p:nvSpPr>
        <p:spPr>
          <a:xfrm>
            <a:off x="3470148" y="2167128"/>
            <a:ext cx="18288" cy="594360"/>
          </a:xfrm>
          <a:prstGeom prst="rect">
            <a:avLst/>
          </a:prstGeom>
          <a:solidFill>
            <a:srgbClr val="1E5A50"/>
          </a:solidFill>
          <a:ln w="12700">
            <a:solidFill>
              <a:srgbClr val="1E5A50"/>
            </a:solidFill>
            <a:prstDash val="solid"/>
          </a:ln>
        </p:spPr>
        <p:txBody>
          <a:bodyPr/>
          <a:lstStyle/>
          <a:p>
            <a:endParaRPr lang="es-ES"/>
          </a:p>
        </p:txBody>
      </p:sp>
      <p:sp>
        <p:nvSpPr>
          <p:cNvPr id="31" name="Text 28"/>
          <p:cNvSpPr/>
          <p:nvPr/>
        </p:nvSpPr>
        <p:spPr>
          <a:xfrm>
            <a:off x="3584448" y="2011680"/>
            <a:ext cx="2157984" cy="164592"/>
          </a:xfrm>
          <a:prstGeom prst="rect">
            <a:avLst/>
          </a:prstGeom>
          <a:noFill/>
          <a:ln/>
        </p:spPr>
        <p:txBody>
          <a:bodyPr wrap="square" lIns="0" tIns="0" rIns="0" bIns="0" rtlCol="0" anchor="ctr"/>
          <a:lstStyle/>
          <a:p>
            <a:pPr marL="0" indent="0">
              <a:buNone/>
            </a:pPr>
            <a:r>
              <a:rPr lang="en-US" sz="850" b="1" dirty="0">
                <a:solidFill>
                  <a:srgbClr val="00B4A0"/>
                </a:solidFill>
                <a:latin typeface="Calibri" pitchFamily="34" charset="0"/>
                <a:ea typeface="Calibri" pitchFamily="34" charset="-122"/>
                <a:cs typeface="Calibri" pitchFamily="34" charset="-120"/>
              </a:rPr>
              <a:t>Mi Coche</a:t>
            </a:r>
            <a:endParaRPr lang="en-US" sz="850" dirty="0"/>
          </a:p>
        </p:txBody>
      </p:sp>
      <p:sp>
        <p:nvSpPr>
          <p:cNvPr id="32" name="Text 29"/>
          <p:cNvSpPr/>
          <p:nvPr/>
        </p:nvSpPr>
        <p:spPr>
          <a:xfrm>
            <a:off x="3584448" y="2176272"/>
            <a:ext cx="2157984" cy="512064"/>
          </a:xfrm>
          <a:prstGeom prst="rect">
            <a:avLst/>
          </a:prstGeom>
          <a:noFill/>
          <a:ln/>
        </p:spPr>
        <p:txBody>
          <a:bodyPr wrap="square" lIns="0" tIns="0" rIns="0" bIns="0" rtlCol="0" anchor="ctr"/>
          <a:lstStyle/>
          <a:p>
            <a:pPr marL="0" indent="0">
              <a:buNone/>
            </a:pPr>
            <a:r>
              <a:rPr lang="en-US" sz="850" dirty="0">
                <a:solidFill>
                  <a:srgbClr val="E2EAF2"/>
                </a:solidFill>
                <a:latin typeface="Calibri" pitchFamily="34" charset="0"/>
                <a:ea typeface="Calibri" pitchFamily="34" charset="-122"/>
                <a:cs typeface="Calibri" pitchFamily="34" charset="-120"/>
              </a:rPr>
              <a:t>El propietario carga toda la info de su vehículo: seguro, mantenimientos, ITV, garantías.</a:t>
            </a:r>
            <a:endParaRPr lang="en-US" sz="850" dirty="0"/>
          </a:p>
        </p:txBody>
      </p:sp>
      <p:sp>
        <p:nvSpPr>
          <p:cNvPr id="33" name="Shape 30"/>
          <p:cNvSpPr/>
          <p:nvPr/>
        </p:nvSpPr>
        <p:spPr>
          <a:xfrm>
            <a:off x="3419856" y="2779776"/>
            <a:ext cx="118872" cy="118872"/>
          </a:xfrm>
          <a:prstGeom prst="ellipse">
            <a:avLst/>
          </a:prstGeom>
          <a:solidFill>
            <a:srgbClr val="00B4A0"/>
          </a:solidFill>
          <a:ln w="12700">
            <a:solidFill>
              <a:srgbClr val="00B4A0"/>
            </a:solidFill>
            <a:prstDash val="solid"/>
          </a:ln>
        </p:spPr>
        <p:txBody>
          <a:bodyPr/>
          <a:lstStyle/>
          <a:p>
            <a:endParaRPr lang="es-ES"/>
          </a:p>
        </p:txBody>
      </p:sp>
      <p:sp>
        <p:nvSpPr>
          <p:cNvPr id="34" name="Shape 31"/>
          <p:cNvSpPr/>
          <p:nvPr/>
        </p:nvSpPr>
        <p:spPr>
          <a:xfrm>
            <a:off x="3470148" y="2898648"/>
            <a:ext cx="18288" cy="594360"/>
          </a:xfrm>
          <a:prstGeom prst="rect">
            <a:avLst/>
          </a:prstGeom>
          <a:solidFill>
            <a:srgbClr val="1E5A50"/>
          </a:solidFill>
          <a:ln w="12700">
            <a:solidFill>
              <a:srgbClr val="1E5A50"/>
            </a:solidFill>
            <a:prstDash val="solid"/>
          </a:ln>
        </p:spPr>
        <p:txBody>
          <a:bodyPr/>
          <a:lstStyle/>
          <a:p>
            <a:endParaRPr lang="es-ES"/>
          </a:p>
        </p:txBody>
      </p:sp>
      <p:sp>
        <p:nvSpPr>
          <p:cNvPr id="35" name="Text 32"/>
          <p:cNvSpPr/>
          <p:nvPr/>
        </p:nvSpPr>
        <p:spPr>
          <a:xfrm>
            <a:off x="3584448" y="2743200"/>
            <a:ext cx="2157984" cy="164592"/>
          </a:xfrm>
          <a:prstGeom prst="rect">
            <a:avLst/>
          </a:prstGeom>
          <a:noFill/>
          <a:ln/>
        </p:spPr>
        <p:txBody>
          <a:bodyPr wrap="square" lIns="0" tIns="0" rIns="0" bIns="0" rtlCol="0" anchor="ctr"/>
          <a:lstStyle/>
          <a:p>
            <a:pPr marL="0" indent="0">
              <a:buNone/>
            </a:pPr>
            <a:r>
              <a:rPr lang="en-US" sz="850" b="1" dirty="0">
                <a:solidFill>
                  <a:srgbClr val="00B4A0"/>
                </a:solidFill>
                <a:latin typeface="Calibri" pitchFamily="34" charset="0"/>
                <a:ea typeface="Calibri" pitchFamily="34" charset="-122"/>
                <a:cs typeface="Calibri" pitchFamily="34" charset="-120"/>
              </a:rPr>
              <a:t>Alertas</a:t>
            </a:r>
            <a:endParaRPr lang="en-US" sz="850" dirty="0"/>
          </a:p>
        </p:txBody>
      </p:sp>
      <p:sp>
        <p:nvSpPr>
          <p:cNvPr id="36" name="Text 33"/>
          <p:cNvSpPr/>
          <p:nvPr/>
        </p:nvSpPr>
        <p:spPr>
          <a:xfrm>
            <a:off x="3584448" y="2907792"/>
            <a:ext cx="2157984" cy="512064"/>
          </a:xfrm>
          <a:prstGeom prst="rect">
            <a:avLst/>
          </a:prstGeom>
          <a:noFill/>
          <a:ln/>
        </p:spPr>
        <p:txBody>
          <a:bodyPr wrap="square" lIns="0" tIns="0" rIns="0" bIns="0" rtlCol="0" anchor="ctr"/>
          <a:lstStyle/>
          <a:p>
            <a:pPr marL="0" indent="0">
              <a:buNone/>
            </a:pPr>
            <a:r>
              <a:rPr lang="en-US" sz="850" dirty="0">
                <a:solidFill>
                  <a:srgbClr val="E2EAF2"/>
                </a:solidFill>
                <a:latin typeface="Calibri" pitchFamily="34" charset="0"/>
                <a:ea typeface="Calibri" pitchFamily="34" charset="-122"/>
                <a:cs typeface="Calibri" pitchFamily="34" charset="-120"/>
              </a:rPr>
              <a:t>Le avisamos de cada revisión según el plan de la marca, comparamos precios y le ofrecemos mejores condiciones gracias a economías de escala.</a:t>
            </a:r>
            <a:endParaRPr lang="en-US" sz="850" dirty="0"/>
          </a:p>
        </p:txBody>
      </p:sp>
      <p:sp>
        <p:nvSpPr>
          <p:cNvPr id="37" name="Shape 34"/>
          <p:cNvSpPr/>
          <p:nvPr/>
        </p:nvSpPr>
        <p:spPr>
          <a:xfrm>
            <a:off x="3419856" y="3511296"/>
            <a:ext cx="118872" cy="118872"/>
          </a:xfrm>
          <a:prstGeom prst="ellipse">
            <a:avLst/>
          </a:prstGeom>
          <a:solidFill>
            <a:srgbClr val="00B4A0"/>
          </a:solidFill>
          <a:ln w="12700">
            <a:solidFill>
              <a:srgbClr val="00B4A0"/>
            </a:solidFill>
            <a:prstDash val="solid"/>
          </a:ln>
        </p:spPr>
        <p:txBody>
          <a:bodyPr/>
          <a:lstStyle/>
          <a:p>
            <a:endParaRPr lang="es-ES"/>
          </a:p>
        </p:txBody>
      </p:sp>
      <p:sp>
        <p:nvSpPr>
          <p:cNvPr id="38" name="Shape 35"/>
          <p:cNvSpPr/>
          <p:nvPr/>
        </p:nvSpPr>
        <p:spPr>
          <a:xfrm>
            <a:off x="3470148" y="3630168"/>
            <a:ext cx="18288" cy="594360"/>
          </a:xfrm>
          <a:prstGeom prst="rect">
            <a:avLst/>
          </a:prstGeom>
          <a:solidFill>
            <a:srgbClr val="1E5A50"/>
          </a:solidFill>
          <a:ln w="12700">
            <a:solidFill>
              <a:srgbClr val="1E5A50"/>
            </a:solidFill>
            <a:prstDash val="solid"/>
          </a:ln>
        </p:spPr>
        <p:txBody>
          <a:bodyPr/>
          <a:lstStyle/>
          <a:p>
            <a:endParaRPr lang="es-ES"/>
          </a:p>
        </p:txBody>
      </p:sp>
      <p:sp>
        <p:nvSpPr>
          <p:cNvPr id="39" name="Text 36"/>
          <p:cNvSpPr/>
          <p:nvPr/>
        </p:nvSpPr>
        <p:spPr>
          <a:xfrm>
            <a:off x="3584448" y="3474720"/>
            <a:ext cx="2157984" cy="164592"/>
          </a:xfrm>
          <a:prstGeom prst="rect">
            <a:avLst/>
          </a:prstGeom>
          <a:noFill/>
          <a:ln/>
        </p:spPr>
        <p:txBody>
          <a:bodyPr wrap="square" lIns="0" tIns="0" rIns="0" bIns="0" rtlCol="0" anchor="ctr"/>
          <a:lstStyle/>
          <a:p>
            <a:pPr marL="0" indent="0">
              <a:buNone/>
            </a:pPr>
            <a:r>
              <a:rPr lang="en-US" sz="850" b="1" dirty="0">
                <a:solidFill>
                  <a:srgbClr val="00B4A0"/>
                </a:solidFill>
                <a:latin typeface="Calibri" pitchFamily="34" charset="0"/>
                <a:ea typeface="Calibri" pitchFamily="34" charset="-122"/>
                <a:cs typeface="Calibri" pitchFamily="34" charset="-120"/>
              </a:rPr>
              <a:t>Trazabilidad</a:t>
            </a:r>
            <a:endParaRPr lang="en-US" sz="850" dirty="0"/>
          </a:p>
        </p:txBody>
      </p:sp>
      <p:sp>
        <p:nvSpPr>
          <p:cNvPr id="40" name="Text 37"/>
          <p:cNvSpPr/>
          <p:nvPr/>
        </p:nvSpPr>
        <p:spPr>
          <a:xfrm>
            <a:off x="3584448" y="3639312"/>
            <a:ext cx="2157984" cy="512064"/>
          </a:xfrm>
          <a:prstGeom prst="rect">
            <a:avLst/>
          </a:prstGeom>
          <a:noFill/>
          <a:ln/>
        </p:spPr>
        <p:txBody>
          <a:bodyPr wrap="square" lIns="0" tIns="0" rIns="0" bIns="0" rtlCol="0" anchor="ctr"/>
          <a:lstStyle/>
          <a:p>
            <a:pPr marL="0" indent="0">
              <a:buNone/>
            </a:pPr>
            <a:r>
              <a:rPr lang="en-US" sz="850" dirty="0">
                <a:solidFill>
                  <a:srgbClr val="E2EAF2"/>
                </a:solidFill>
                <a:latin typeface="Calibri" pitchFamily="34" charset="0"/>
                <a:ea typeface="Calibri" pitchFamily="34" charset="-122"/>
                <a:cs typeface="Calibri" pitchFamily="34" charset="-120"/>
              </a:rPr>
              <a:t>Historial digital completo del vehículo. Un activo con registro vale más en la venta.</a:t>
            </a:r>
            <a:endParaRPr lang="en-US" sz="850" dirty="0"/>
          </a:p>
        </p:txBody>
      </p:sp>
      <p:sp>
        <p:nvSpPr>
          <p:cNvPr id="41" name="Shape 38"/>
          <p:cNvSpPr/>
          <p:nvPr/>
        </p:nvSpPr>
        <p:spPr>
          <a:xfrm>
            <a:off x="3419856" y="4242816"/>
            <a:ext cx="118872" cy="118872"/>
          </a:xfrm>
          <a:prstGeom prst="ellipse">
            <a:avLst/>
          </a:prstGeom>
          <a:solidFill>
            <a:srgbClr val="00B4A0"/>
          </a:solidFill>
          <a:ln w="12700">
            <a:solidFill>
              <a:srgbClr val="00B4A0"/>
            </a:solidFill>
            <a:prstDash val="solid"/>
          </a:ln>
        </p:spPr>
        <p:txBody>
          <a:bodyPr/>
          <a:lstStyle/>
          <a:p>
            <a:endParaRPr lang="es-ES"/>
          </a:p>
        </p:txBody>
      </p:sp>
      <p:sp>
        <p:nvSpPr>
          <p:cNvPr id="42" name="Text 39"/>
          <p:cNvSpPr/>
          <p:nvPr/>
        </p:nvSpPr>
        <p:spPr>
          <a:xfrm>
            <a:off x="3584448" y="4206240"/>
            <a:ext cx="2157984" cy="164592"/>
          </a:xfrm>
          <a:prstGeom prst="rect">
            <a:avLst/>
          </a:prstGeom>
          <a:noFill/>
          <a:ln/>
        </p:spPr>
        <p:txBody>
          <a:bodyPr wrap="square" lIns="0" tIns="0" rIns="0" bIns="0" rtlCol="0" anchor="ctr"/>
          <a:lstStyle/>
          <a:p>
            <a:pPr marL="0" indent="0">
              <a:buNone/>
            </a:pPr>
            <a:r>
              <a:rPr lang="en-US" sz="850" b="1" dirty="0">
                <a:solidFill>
                  <a:srgbClr val="00B4A0"/>
                </a:solidFill>
                <a:latin typeface="Calibri" pitchFamily="34" charset="0"/>
                <a:ea typeface="Calibri" pitchFamily="34" charset="-122"/>
                <a:cs typeface="Calibri" pitchFamily="34" charset="-120"/>
              </a:rPr>
              <a:t>Ahorro</a:t>
            </a:r>
            <a:endParaRPr lang="en-US" sz="850" dirty="0"/>
          </a:p>
        </p:txBody>
      </p:sp>
      <p:sp>
        <p:nvSpPr>
          <p:cNvPr id="43" name="Text 40"/>
          <p:cNvSpPr/>
          <p:nvPr/>
        </p:nvSpPr>
        <p:spPr>
          <a:xfrm>
            <a:off x="3584448" y="4370832"/>
            <a:ext cx="2157984" cy="512064"/>
          </a:xfrm>
          <a:prstGeom prst="rect">
            <a:avLst/>
          </a:prstGeom>
          <a:noFill/>
          <a:ln/>
        </p:spPr>
        <p:txBody>
          <a:bodyPr wrap="square" lIns="0" tIns="0" rIns="0" bIns="0" rtlCol="0" anchor="ctr"/>
          <a:lstStyle/>
          <a:p>
            <a:pPr marL="0" indent="0">
              <a:buNone/>
            </a:pPr>
            <a:r>
              <a:rPr lang="en-US" sz="850" dirty="0">
                <a:solidFill>
                  <a:srgbClr val="E2EAF2"/>
                </a:solidFill>
                <a:latin typeface="Calibri" pitchFamily="34" charset="0"/>
                <a:ea typeface="Calibri" pitchFamily="34" charset="-122"/>
                <a:cs typeface="Calibri" pitchFamily="34" charset="-120"/>
              </a:rPr>
              <a:t>Acceso a tarifas de red de talleres y aseguradoras negociadas para particulares.</a:t>
            </a:r>
            <a:endParaRPr lang="en-US" sz="850" dirty="0"/>
          </a:p>
        </p:txBody>
      </p:sp>
      <p:sp>
        <p:nvSpPr>
          <p:cNvPr id="44" name="Shape 41"/>
          <p:cNvSpPr/>
          <p:nvPr/>
        </p:nvSpPr>
        <p:spPr>
          <a:xfrm>
            <a:off x="6053328" y="1188720"/>
            <a:ext cx="2633472" cy="3703320"/>
          </a:xfrm>
          <a:prstGeom prst="rect">
            <a:avLst/>
          </a:prstGeom>
          <a:solidFill>
            <a:srgbClr val="1A2E44"/>
          </a:solidFill>
          <a:ln w="12700">
            <a:solidFill>
              <a:srgbClr val="1E3A5A"/>
            </a:solidFill>
            <a:prstDash val="solid"/>
          </a:ln>
        </p:spPr>
        <p:txBody>
          <a:bodyPr/>
          <a:lstStyle/>
          <a:p>
            <a:endParaRPr lang="es-ES"/>
          </a:p>
        </p:txBody>
      </p:sp>
      <p:sp>
        <p:nvSpPr>
          <p:cNvPr id="45" name="Shape 42"/>
          <p:cNvSpPr/>
          <p:nvPr/>
        </p:nvSpPr>
        <p:spPr>
          <a:xfrm>
            <a:off x="6053328" y="1188720"/>
            <a:ext cx="2633472" cy="658368"/>
          </a:xfrm>
          <a:prstGeom prst="rect">
            <a:avLst/>
          </a:prstGeom>
          <a:solidFill>
            <a:srgbClr val="00B4A0"/>
          </a:solidFill>
          <a:ln w="12700">
            <a:solidFill>
              <a:srgbClr val="00B4A0"/>
            </a:solidFill>
            <a:prstDash val="solid"/>
          </a:ln>
        </p:spPr>
        <p:txBody>
          <a:bodyPr/>
          <a:lstStyle/>
          <a:p>
            <a:endParaRPr lang="es-ES"/>
          </a:p>
        </p:txBody>
      </p:sp>
      <p:sp>
        <p:nvSpPr>
          <p:cNvPr id="46" name="Text 43"/>
          <p:cNvSpPr/>
          <p:nvPr/>
        </p:nvSpPr>
        <p:spPr>
          <a:xfrm>
            <a:off x="6217920" y="1243584"/>
            <a:ext cx="2377440" cy="182880"/>
          </a:xfrm>
          <a:prstGeom prst="rect">
            <a:avLst/>
          </a:prstGeom>
          <a:noFill/>
          <a:ln/>
        </p:spPr>
        <p:txBody>
          <a:bodyPr wrap="square" lIns="0" tIns="0" rIns="0" bIns="0" rtlCol="0" anchor="ctr"/>
          <a:lstStyle/>
          <a:p>
            <a:pPr marL="0" indent="0">
              <a:buNone/>
            </a:pPr>
            <a:r>
              <a:rPr lang="en-US" sz="750" b="1" kern="0" spc="200" dirty="0">
                <a:solidFill>
                  <a:srgbClr val="0D1B2A"/>
                </a:solidFill>
                <a:latin typeface="Calibri" pitchFamily="34" charset="0"/>
                <a:ea typeface="Calibri" pitchFamily="34" charset="-122"/>
                <a:cs typeface="Calibri" pitchFamily="34" charset="-120"/>
              </a:rPr>
              <a:t>03 · VENTA</a:t>
            </a:r>
            <a:endParaRPr lang="en-US" sz="750" dirty="0"/>
          </a:p>
        </p:txBody>
      </p:sp>
      <p:sp>
        <p:nvSpPr>
          <p:cNvPr id="47" name="Text 44"/>
          <p:cNvSpPr/>
          <p:nvPr/>
        </p:nvSpPr>
        <p:spPr>
          <a:xfrm>
            <a:off x="6217920" y="1426464"/>
            <a:ext cx="2377440" cy="384048"/>
          </a:xfrm>
          <a:prstGeom prst="rect">
            <a:avLst/>
          </a:prstGeom>
          <a:noFill/>
          <a:ln/>
        </p:spPr>
        <p:txBody>
          <a:bodyPr wrap="square" lIns="0" tIns="0" rIns="0" bIns="0" rtlCol="0" anchor="ctr"/>
          <a:lstStyle/>
          <a:p>
            <a:pPr marL="0" indent="0">
              <a:buNone/>
            </a:pPr>
            <a:r>
              <a:rPr lang="en-US" sz="1100" b="1" dirty="0">
                <a:solidFill>
                  <a:srgbClr val="0D1B2A"/>
                </a:solidFill>
                <a:latin typeface="Trebuchet MS" pitchFamily="34" charset="0"/>
                <a:ea typeface="Trebuchet MS" pitchFamily="34" charset="-122"/>
                <a:cs typeface="Trebuchet MS" pitchFamily="34" charset="-120"/>
              </a:rPr>
              <a:t>Vende al precio justo, sin intermediarios</a:t>
            </a:r>
            <a:endParaRPr lang="en-US" sz="1100" dirty="0"/>
          </a:p>
        </p:txBody>
      </p:sp>
      <p:sp>
        <p:nvSpPr>
          <p:cNvPr id="48" name="Shape 45"/>
          <p:cNvSpPr/>
          <p:nvPr/>
        </p:nvSpPr>
        <p:spPr>
          <a:xfrm>
            <a:off x="6217920" y="2048256"/>
            <a:ext cx="118872" cy="118872"/>
          </a:xfrm>
          <a:prstGeom prst="ellipse">
            <a:avLst/>
          </a:prstGeom>
          <a:solidFill>
            <a:srgbClr val="00B4A0"/>
          </a:solidFill>
          <a:ln w="12700">
            <a:solidFill>
              <a:srgbClr val="00B4A0"/>
            </a:solidFill>
            <a:prstDash val="solid"/>
          </a:ln>
        </p:spPr>
        <p:txBody>
          <a:bodyPr/>
          <a:lstStyle/>
          <a:p>
            <a:endParaRPr lang="es-ES"/>
          </a:p>
        </p:txBody>
      </p:sp>
      <p:sp>
        <p:nvSpPr>
          <p:cNvPr id="49" name="Shape 46"/>
          <p:cNvSpPr/>
          <p:nvPr/>
        </p:nvSpPr>
        <p:spPr>
          <a:xfrm>
            <a:off x="6268212" y="2167128"/>
            <a:ext cx="18288" cy="594360"/>
          </a:xfrm>
          <a:prstGeom prst="rect">
            <a:avLst/>
          </a:prstGeom>
          <a:solidFill>
            <a:srgbClr val="1E5A50"/>
          </a:solidFill>
          <a:ln w="12700">
            <a:solidFill>
              <a:srgbClr val="1E5A50"/>
            </a:solidFill>
            <a:prstDash val="solid"/>
          </a:ln>
        </p:spPr>
        <p:txBody>
          <a:bodyPr/>
          <a:lstStyle/>
          <a:p>
            <a:endParaRPr lang="es-ES"/>
          </a:p>
        </p:txBody>
      </p:sp>
      <p:sp>
        <p:nvSpPr>
          <p:cNvPr id="50" name="Text 47"/>
          <p:cNvSpPr/>
          <p:nvPr/>
        </p:nvSpPr>
        <p:spPr>
          <a:xfrm>
            <a:off x="6382512" y="2011680"/>
            <a:ext cx="2157984" cy="164592"/>
          </a:xfrm>
          <a:prstGeom prst="rect">
            <a:avLst/>
          </a:prstGeom>
          <a:noFill/>
          <a:ln/>
        </p:spPr>
        <p:txBody>
          <a:bodyPr wrap="square" lIns="0" tIns="0" rIns="0" bIns="0" rtlCol="0" anchor="ctr"/>
          <a:lstStyle/>
          <a:p>
            <a:pPr marL="0" indent="0">
              <a:buNone/>
            </a:pPr>
            <a:r>
              <a:rPr lang="en-US" sz="850" b="1" dirty="0">
                <a:solidFill>
                  <a:srgbClr val="00B4A0"/>
                </a:solidFill>
                <a:latin typeface="Calibri" pitchFamily="34" charset="0"/>
                <a:ea typeface="Calibri" pitchFamily="34" charset="-122"/>
                <a:cs typeface="Calibri" pitchFamily="34" charset="-120"/>
              </a:rPr>
              <a:t>Inteligencia</a:t>
            </a:r>
            <a:endParaRPr lang="en-US" sz="850" dirty="0"/>
          </a:p>
        </p:txBody>
      </p:sp>
      <p:sp>
        <p:nvSpPr>
          <p:cNvPr id="51" name="Text 48"/>
          <p:cNvSpPr/>
          <p:nvPr/>
        </p:nvSpPr>
        <p:spPr>
          <a:xfrm>
            <a:off x="6382512" y="2176272"/>
            <a:ext cx="2157984" cy="512064"/>
          </a:xfrm>
          <a:prstGeom prst="rect">
            <a:avLst/>
          </a:prstGeom>
          <a:noFill/>
          <a:ln/>
        </p:spPr>
        <p:txBody>
          <a:bodyPr wrap="square" lIns="0" tIns="0" rIns="0" bIns="0" rtlCol="0" anchor="ctr"/>
          <a:lstStyle/>
          <a:p>
            <a:pPr marL="0" indent="0">
              <a:buNone/>
            </a:pPr>
            <a:r>
              <a:rPr lang="en-US" sz="850" dirty="0">
                <a:solidFill>
                  <a:srgbClr val="E2EAF2"/>
                </a:solidFill>
                <a:latin typeface="Calibri" pitchFamily="34" charset="0"/>
                <a:ea typeface="Calibri" pitchFamily="34" charset="-122"/>
                <a:cs typeface="Calibri" pitchFamily="34" charset="-120"/>
              </a:rPr>
              <a:t>Mostramos al vendedor el precio de mercado real: coches similares en venta, precio promedio y tiempo medio de venta en su zona.</a:t>
            </a:r>
            <a:endParaRPr lang="en-US" sz="850" dirty="0"/>
          </a:p>
        </p:txBody>
      </p:sp>
      <p:sp>
        <p:nvSpPr>
          <p:cNvPr id="52" name="Shape 49"/>
          <p:cNvSpPr/>
          <p:nvPr/>
        </p:nvSpPr>
        <p:spPr>
          <a:xfrm>
            <a:off x="6217920" y="2779776"/>
            <a:ext cx="118872" cy="118872"/>
          </a:xfrm>
          <a:prstGeom prst="ellipse">
            <a:avLst/>
          </a:prstGeom>
          <a:solidFill>
            <a:srgbClr val="00B4A0"/>
          </a:solidFill>
          <a:ln w="12700">
            <a:solidFill>
              <a:srgbClr val="00B4A0"/>
            </a:solidFill>
            <a:prstDash val="solid"/>
          </a:ln>
        </p:spPr>
        <p:txBody>
          <a:bodyPr/>
          <a:lstStyle/>
          <a:p>
            <a:endParaRPr lang="es-ES"/>
          </a:p>
        </p:txBody>
      </p:sp>
      <p:sp>
        <p:nvSpPr>
          <p:cNvPr id="53" name="Shape 50"/>
          <p:cNvSpPr/>
          <p:nvPr/>
        </p:nvSpPr>
        <p:spPr>
          <a:xfrm>
            <a:off x="6268212" y="2898648"/>
            <a:ext cx="18288" cy="594360"/>
          </a:xfrm>
          <a:prstGeom prst="rect">
            <a:avLst/>
          </a:prstGeom>
          <a:solidFill>
            <a:srgbClr val="1E5A50"/>
          </a:solidFill>
          <a:ln w="12700">
            <a:solidFill>
              <a:srgbClr val="1E5A50"/>
            </a:solidFill>
            <a:prstDash val="solid"/>
          </a:ln>
        </p:spPr>
        <p:txBody>
          <a:bodyPr/>
          <a:lstStyle/>
          <a:p>
            <a:endParaRPr lang="es-ES"/>
          </a:p>
        </p:txBody>
      </p:sp>
      <p:sp>
        <p:nvSpPr>
          <p:cNvPr id="54" name="Text 51"/>
          <p:cNvSpPr/>
          <p:nvPr/>
        </p:nvSpPr>
        <p:spPr>
          <a:xfrm>
            <a:off x="6382512" y="2743200"/>
            <a:ext cx="2157984" cy="164592"/>
          </a:xfrm>
          <a:prstGeom prst="rect">
            <a:avLst/>
          </a:prstGeom>
          <a:noFill/>
          <a:ln/>
        </p:spPr>
        <p:txBody>
          <a:bodyPr wrap="square" lIns="0" tIns="0" rIns="0" bIns="0" rtlCol="0" anchor="ctr"/>
          <a:lstStyle/>
          <a:p>
            <a:pPr marL="0" indent="0">
              <a:buNone/>
            </a:pPr>
            <a:r>
              <a:rPr lang="en-US" sz="850" b="1" dirty="0">
                <a:solidFill>
                  <a:srgbClr val="00B4A0"/>
                </a:solidFill>
                <a:latin typeface="Calibri" pitchFamily="34" charset="0"/>
                <a:ea typeface="Calibri" pitchFamily="34" charset="-122"/>
                <a:cs typeface="Calibri" pitchFamily="34" charset="-120"/>
              </a:rPr>
              <a:t>Certificado CarWise</a:t>
            </a:r>
            <a:endParaRPr lang="en-US" sz="850" dirty="0"/>
          </a:p>
        </p:txBody>
      </p:sp>
      <p:sp>
        <p:nvSpPr>
          <p:cNvPr id="55" name="Text 52"/>
          <p:cNvSpPr/>
          <p:nvPr/>
        </p:nvSpPr>
        <p:spPr>
          <a:xfrm>
            <a:off x="6382512" y="2907792"/>
            <a:ext cx="2157984" cy="512064"/>
          </a:xfrm>
          <a:prstGeom prst="rect">
            <a:avLst/>
          </a:prstGeom>
          <a:noFill/>
          <a:ln/>
        </p:spPr>
        <p:txBody>
          <a:bodyPr wrap="square" lIns="0" tIns="0" rIns="0" bIns="0" rtlCol="0" anchor="ctr"/>
          <a:lstStyle/>
          <a:p>
            <a:pPr marL="0" indent="0">
              <a:buNone/>
            </a:pPr>
            <a:r>
              <a:rPr lang="en-US" sz="850" dirty="0">
                <a:solidFill>
                  <a:srgbClr val="E2EAF2"/>
                </a:solidFill>
                <a:latin typeface="Calibri" pitchFamily="34" charset="0"/>
                <a:ea typeface="Calibri" pitchFamily="34" charset="-122"/>
                <a:cs typeface="Calibri" pitchFamily="34" charset="-120"/>
              </a:rPr>
              <a:t>Un equipo profesional revisa el coche in situ y emite el Certificado CarWise, que acredita el estado real del vehículo y aumenta su valor percibido.</a:t>
            </a:r>
            <a:endParaRPr lang="en-US" sz="850" dirty="0"/>
          </a:p>
        </p:txBody>
      </p:sp>
      <p:sp>
        <p:nvSpPr>
          <p:cNvPr id="56" name="Shape 53"/>
          <p:cNvSpPr/>
          <p:nvPr/>
        </p:nvSpPr>
        <p:spPr>
          <a:xfrm>
            <a:off x="6217920" y="3511296"/>
            <a:ext cx="118872" cy="118872"/>
          </a:xfrm>
          <a:prstGeom prst="ellipse">
            <a:avLst/>
          </a:prstGeom>
          <a:solidFill>
            <a:srgbClr val="00B4A0"/>
          </a:solidFill>
          <a:ln w="12700">
            <a:solidFill>
              <a:srgbClr val="00B4A0"/>
            </a:solidFill>
            <a:prstDash val="solid"/>
          </a:ln>
        </p:spPr>
        <p:txBody>
          <a:bodyPr/>
          <a:lstStyle/>
          <a:p>
            <a:endParaRPr lang="es-ES"/>
          </a:p>
        </p:txBody>
      </p:sp>
      <p:sp>
        <p:nvSpPr>
          <p:cNvPr id="57" name="Shape 54"/>
          <p:cNvSpPr/>
          <p:nvPr/>
        </p:nvSpPr>
        <p:spPr>
          <a:xfrm>
            <a:off x="6268212" y="3630168"/>
            <a:ext cx="18288" cy="594360"/>
          </a:xfrm>
          <a:prstGeom prst="rect">
            <a:avLst/>
          </a:prstGeom>
          <a:solidFill>
            <a:srgbClr val="1E5A50"/>
          </a:solidFill>
          <a:ln w="12700">
            <a:solidFill>
              <a:srgbClr val="1E5A50"/>
            </a:solidFill>
            <a:prstDash val="solid"/>
          </a:ln>
        </p:spPr>
        <p:txBody>
          <a:bodyPr/>
          <a:lstStyle/>
          <a:p>
            <a:endParaRPr lang="es-ES"/>
          </a:p>
        </p:txBody>
      </p:sp>
      <p:sp>
        <p:nvSpPr>
          <p:cNvPr id="58" name="Text 55"/>
          <p:cNvSpPr/>
          <p:nvPr/>
        </p:nvSpPr>
        <p:spPr>
          <a:xfrm>
            <a:off x="6382512" y="3474720"/>
            <a:ext cx="2157984" cy="164592"/>
          </a:xfrm>
          <a:prstGeom prst="rect">
            <a:avLst/>
          </a:prstGeom>
          <a:noFill/>
          <a:ln/>
        </p:spPr>
        <p:txBody>
          <a:bodyPr wrap="square" lIns="0" tIns="0" rIns="0" bIns="0" rtlCol="0" anchor="ctr"/>
          <a:lstStyle/>
          <a:p>
            <a:pPr marL="0" indent="0">
              <a:buNone/>
            </a:pPr>
            <a:r>
              <a:rPr lang="en-US" sz="850" b="1" dirty="0">
                <a:solidFill>
                  <a:srgbClr val="00B4A0"/>
                </a:solidFill>
                <a:latin typeface="Calibri" pitchFamily="34" charset="0"/>
                <a:ea typeface="Calibri" pitchFamily="34" charset="-122"/>
                <a:cs typeface="Calibri" pitchFamily="34" charset="-120"/>
              </a:rPr>
              <a:t>Gestión online</a:t>
            </a:r>
            <a:endParaRPr lang="en-US" sz="850" dirty="0"/>
          </a:p>
        </p:txBody>
      </p:sp>
      <p:sp>
        <p:nvSpPr>
          <p:cNvPr id="59" name="Text 56"/>
          <p:cNvSpPr/>
          <p:nvPr/>
        </p:nvSpPr>
        <p:spPr>
          <a:xfrm>
            <a:off x="6382512" y="3639312"/>
            <a:ext cx="2157984" cy="512064"/>
          </a:xfrm>
          <a:prstGeom prst="rect">
            <a:avLst/>
          </a:prstGeom>
          <a:noFill/>
          <a:ln/>
        </p:spPr>
        <p:txBody>
          <a:bodyPr wrap="square" lIns="0" tIns="0" rIns="0" bIns="0" rtlCol="0" anchor="ctr"/>
          <a:lstStyle/>
          <a:p>
            <a:pPr marL="0" indent="0">
              <a:buNone/>
            </a:pPr>
            <a:r>
              <a:rPr lang="en-US" sz="850" dirty="0">
                <a:solidFill>
                  <a:srgbClr val="E2EAF2"/>
                </a:solidFill>
                <a:latin typeface="Calibri" pitchFamily="34" charset="0"/>
                <a:ea typeface="Calibri" pitchFamily="34" charset="-122"/>
                <a:cs typeface="Calibri" pitchFamily="34" charset="-120"/>
              </a:rPr>
              <a:t>Publicamos el anuncio, atendemos las llamadas, filtramos compradores reales y agendamos visitas según disponibilidad del propietario.</a:t>
            </a:r>
            <a:endParaRPr lang="en-US" sz="850" dirty="0"/>
          </a:p>
        </p:txBody>
      </p:sp>
      <p:sp>
        <p:nvSpPr>
          <p:cNvPr id="60" name="Shape 57"/>
          <p:cNvSpPr/>
          <p:nvPr/>
        </p:nvSpPr>
        <p:spPr>
          <a:xfrm>
            <a:off x="6217920" y="4242816"/>
            <a:ext cx="118872" cy="118872"/>
          </a:xfrm>
          <a:prstGeom prst="ellipse">
            <a:avLst/>
          </a:prstGeom>
          <a:solidFill>
            <a:srgbClr val="00B4A0"/>
          </a:solidFill>
          <a:ln w="12700">
            <a:solidFill>
              <a:srgbClr val="00B4A0"/>
            </a:solidFill>
            <a:prstDash val="solid"/>
          </a:ln>
        </p:spPr>
        <p:txBody>
          <a:bodyPr/>
          <a:lstStyle/>
          <a:p>
            <a:endParaRPr lang="es-ES"/>
          </a:p>
        </p:txBody>
      </p:sp>
      <p:sp>
        <p:nvSpPr>
          <p:cNvPr id="61" name="Text 58"/>
          <p:cNvSpPr/>
          <p:nvPr/>
        </p:nvSpPr>
        <p:spPr>
          <a:xfrm>
            <a:off x="6382512" y="4206240"/>
            <a:ext cx="2157984" cy="164592"/>
          </a:xfrm>
          <a:prstGeom prst="rect">
            <a:avLst/>
          </a:prstGeom>
          <a:noFill/>
          <a:ln/>
        </p:spPr>
        <p:txBody>
          <a:bodyPr wrap="square" lIns="0" tIns="0" rIns="0" bIns="0" rtlCol="0" anchor="ctr"/>
          <a:lstStyle/>
          <a:p>
            <a:pPr marL="0" indent="0">
              <a:buNone/>
            </a:pPr>
            <a:r>
              <a:rPr lang="en-US" sz="850" b="1" dirty="0">
                <a:solidFill>
                  <a:srgbClr val="00B4A0"/>
                </a:solidFill>
                <a:latin typeface="Calibri" pitchFamily="34" charset="0"/>
                <a:ea typeface="Calibri" pitchFamily="34" charset="-122"/>
                <a:cs typeface="Calibri" pitchFamily="34" charset="-120"/>
              </a:rPr>
              <a:t>Sin pérdidas</a:t>
            </a:r>
            <a:endParaRPr lang="en-US" sz="850" dirty="0"/>
          </a:p>
        </p:txBody>
      </p:sp>
      <p:sp>
        <p:nvSpPr>
          <p:cNvPr id="62" name="Text 59"/>
          <p:cNvSpPr/>
          <p:nvPr/>
        </p:nvSpPr>
        <p:spPr>
          <a:xfrm>
            <a:off x="6382512" y="4370832"/>
            <a:ext cx="2157984" cy="512064"/>
          </a:xfrm>
          <a:prstGeom prst="rect">
            <a:avLst/>
          </a:prstGeom>
          <a:noFill/>
          <a:ln/>
        </p:spPr>
        <p:txBody>
          <a:bodyPr wrap="square" lIns="0" tIns="0" rIns="0" bIns="0" rtlCol="0" anchor="ctr"/>
          <a:lstStyle/>
          <a:p>
            <a:pPr marL="0" indent="0">
              <a:buNone/>
            </a:pPr>
            <a:r>
              <a:rPr lang="en-US" sz="850" dirty="0">
                <a:solidFill>
                  <a:srgbClr val="E2EAF2"/>
                </a:solidFill>
                <a:latin typeface="Calibri" pitchFamily="34" charset="0"/>
                <a:ea typeface="Calibri" pitchFamily="34" charset="-122"/>
                <a:cs typeface="Calibri" pitchFamily="34" charset="-120"/>
              </a:rPr>
              <a:t>El particular vende sin pasar por un compraventa y sin malvender. Conserva el margen que antes se quedaba el intermediario.</a:t>
            </a:r>
            <a:endParaRPr lang="en-US" sz="850" dirty="0"/>
          </a:p>
        </p:txBody>
      </p:sp>
      <p:sp>
        <p:nvSpPr>
          <p:cNvPr id="63" name="Text 60"/>
          <p:cNvSpPr/>
          <p:nvPr/>
        </p:nvSpPr>
        <p:spPr>
          <a:xfrm>
            <a:off x="457200" y="4919472"/>
            <a:ext cx="8229600" cy="182880"/>
          </a:xfrm>
          <a:prstGeom prst="rect">
            <a:avLst/>
          </a:prstGeom>
          <a:noFill/>
          <a:ln/>
        </p:spPr>
        <p:txBody>
          <a:bodyPr wrap="square" lIns="0" tIns="0" rIns="0" bIns="0" rtlCol="0" anchor="ctr"/>
          <a:lstStyle/>
          <a:p>
            <a:pPr marL="0" indent="0" algn="ctr">
              <a:buNone/>
            </a:pPr>
            <a:r>
              <a:rPr lang="en-US" sz="800" i="1" dirty="0">
                <a:solidFill>
                  <a:srgbClr val="8BA4BC"/>
                </a:solidFill>
                <a:latin typeface="Calibri" pitchFamily="34" charset="0"/>
                <a:ea typeface="Calibri" pitchFamily="34" charset="-122"/>
                <a:cs typeface="Calibri" pitchFamily="34" charset="-120"/>
              </a:rPr>
              <a:t>El historial de gestión mejora el precio de venta · La venta activa un nuevo ciclo de compra</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201168"/>
          </a:xfrm>
          <a:prstGeom prst="rect">
            <a:avLst/>
          </a:prstGeom>
          <a:noFill/>
          <a:ln/>
        </p:spPr>
        <p:txBody>
          <a:bodyPr wrap="square" lIns="0" tIns="0" rIns="0" bIns="0" rtlCol="0" anchor="ctr"/>
          <a:lstStyle/>
          <a:p>
            <a:pPr marL="0" indent="0">
              <a:buNone/>
            </a:pPr>
            <a:r>
              <a:rPr lang="en-US" sz="800" b="1" kern="0" spc="300" dirty="0">
                <a:solidFill>
                  <a:srgbClr val="00B4A0"/>
                </a:solidFill>
                <a:latin typeface="Calibri" pitchFamily="34" charset="0"/>
                <a:ea typeface="Calibri" pitchFamily="34" charset="-122"/>
                <a:cs typeface="Calibri" pitchFamily="34" charset="-120"/>
              </a:rPr>
              <a:t>MONETIZACIÓN</a:t>
            </a:r>
            <a:endParaRPr lang="en-US" sz="800" dirty="0"/>
          </a:p>
        </p:txBody>
      </p:sp>
      <p:sp>
        <p:nvSpPr>
          <p:cNvPr id="3" name="Text 1"/>
          <p:cNvSpPr/>
          <p:nvPr/>
        </p:nvSpPr>
        <p:spPr>
          <a:xfrm>
            <a:off x="457200" y="475488"/>
            <a:ext cx="8229600" cy="530352"/>
          </a:xfrm>
          <a:prstGeom prst="rect">
            <a:avLst/>
          </a:prstGeom>
          <a:noFill/>
          <a:ln/>
        </p:spPr>
        <p:txBody>
          <a:bodyPr wrap="square" lIns="0" tIns="0" rIns="0" bIns="0" rtlCol="0" anchor="ctr"/>
          <a:lstStyle/>
          <a:p>
            <a:pPr marL="0" indent="0">
              <a:buNone/>
            </a:pPr>
            <a:r>
              <a:rPr lang="en-US" sz="2600" b="1" dirty="0">
                <a:solidFill>
                  <a:srgbClr val="0D1B2A"/>
                </a:solidFill>
                <a:latin typeface="Trebuchet MS" pitchFamily="34" charset="0"/>
                <a:ea typeface="Trebuchet MS" pitchFamily="34" charset="-122"/>
                <a:cs typeface="Trebuchet MS" pitchFamily="34" charset="-120"/>
              </a:rPr>
              <a:t>Seis líneas de negocio complementarias</a:t>
            </a:r>
            <a:endParaRPr lang="en-US" sz="2600" dirty="0"/>
          </a:p>
        </p:txBody>
      </p:sp>
      <p:sp>
        <p:nvSpPr>
          <p:cNvPr id="4" name="Shape 2"/>
          <p:cNvSpPr/>
          <p:nvPr/>
        </p:nvSpPr>
        <p:spPr>
          <a:xfrm>
            <a:off x="457200" y="1042416"/>
            <a:ext cx="8229600" cy="22860"/>
          </a:xfrm>
          <a:prstGeom prst="rect">
            <a:avLst/>
          </a:prstGeom>
          <a:solidFill>
            <a:srgbClr val="00B4A0"/>
          </a:solidFill>
          <a:ln w="12700">
            <a:solidFill>
              <a:srgbClr val="00B4A0"/>
            </a:solidFill>
            <a:prstDash val="solid"/>
          </a:ln>
        </p:spPr>
        <p:txBody>
          <a:bodyPr/>
          <a:lstStyle/>
          <a:p>
            <a:endParaRPr lang="es-ES"/>
          </a:p>
        </p:txBody>
      </p:sp>
      <p:sp>
        <p:nvSpPr>
          <p:cNvPr id="5" name="Shape 3"/>
          <p:cNvSpPr/>
          <p:nvPr/>
        </p:nvSpPr>
        <p:spPr>
          <a:xfrm>
            <a:off x="438912" y="1261872"/>
            <a:ext cx="384048" cy="384048"/>
          </a:xfrm>
          <a:prstGeom prst="ellipse">
            <a:avLst/>
          </a:prstGeom>
          <a:solidFill>
            <a:srgbClr val="00B4A0"/>
          </a:solidFill>
          <a:ln w="12700">
            <a:solidFill>
              <a:srgbClr val="00B4A0"/>
            </a:solidFill>
            <a:prstDash val="solid"/>
          </a:ln>
        </p:spPr>
        <p:txBody>
          <a:bodyPr/>
          <a:lstStyle/>
          <a:p>
            <a:endParaRPr lang="es-ES"/>
          </a:p>
        </p:txBody>
      </p:sp>
      <p:sp>
        <p:nvSpPr>
          <p:cNvPr id="6" name="Text 4"/>
          <p:cNvSpPr/>
          <p:nvPr/>
        </p:nvSpPr>
        <p:spPr>
          <a:xfrm>
            <a:off x="438912" y="1261872"/>
            <a:ext cx="384048" cy="38404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7" name="Text 5"/>
          <p:cNvSpPr/>
          <p:nvPr/>
        </p:nvSpPr>
        <p:spPr>
          <a:xfrm>
            <a:off x="950976" y="1261872"/>
            <a:ext cx="3493008" cy="237744"/>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Intermediación VO</a:t>
            </a:r>
            <a:endParaRPr lang="en-US" sz="1200" dirty="0"/>
          </a:p>
        </p:txBody>
      </p:sp>
      <p:sp>
        <p:nvSpPr>
          <p:cNvPr id="8" name="Text 6"/>
          <p:cNvSpPr/>
          <p:nvPr/>
        </p:nvSpPr>
        <p:spPr>
          <a:xfrm>
            <a:off x="950976" y="1517904"/>
            <a:ext cx="3493008" cy="502920"/>
          </a:xfrm>
          <a:prstGeom prst="rect">
            <a:avLst/>
          </a:prstGeom>
          <a:noFill/>
          <a:ln/>
        </p:spPr>
        <p:txBody>
          <a:bodyPr wrap="square" lIns="0" tIns="0" rIns="0" bIns="0" rtlCol="0" anchor="ctr"/>
          <a:lstStyle/>
          <a:p>
            <a:pPr marL="0" indent="0">
              <a:buNone/>
            </a:pPr>
            <a:r>
              <a:rPr lang="en-US" sz="1000" dirty="0">
                <a:solidFill>
                  <a:srgbClr val="1A2E44"/>
                </a:solidFill>
                <a:latin typeface="Calibri" pitchFamily="34" charset="0"/>
                <a:ea typeface="Calibri" pitchFamily="34" charset="-122"/>
                <a:cs typeface="Calibri" pitchFamily="34" charset="-120"/>
              </a:rPr>
              <a:t>Fee por lead B2B a concesionarios + comisión del 1% sobre el precio de venta intermediada.</a:t>
            </a:r>
            <a:endParaRPr lang="en-US" sz="1000" dirty="0"/>
          </a:p>
        </p:txBody>
      </p:sp>
      <p:sp>
        <p:nvSpPr>
          <p:cNvPr id="9" name="Shape 7"/>
          <p:cNvSpPr/>
          <p:nvPr/>
        </p:nvSpPr>
        <p:spPr>
          <a:xfrm>
            <a:off x="950976" y="2029968"/>
            <a:ext cx="1463040" cy="201168"/>
          </a:xfrm>
          <a:prstGeom prst="rect">
            <a:avLst/>
          </a:prstGeom>
          <a:solidFill>
            <a:srgbClr val="E8F7F5"/>
          </a:solidFill>
          <a:ln w="12700">
            <a:solidFill>
              <a:srgbClr val="00B4A0"/>
            </a:solidFill>
            <a:prstDash val="solid"/>
          </a:ln>
        </p:spPr>
        <p:txBody>
          <a:bodyPr/>
          <a:lstStyle/>
          <a:p>
            <a:endParaRPr lang="es-ES"/>
          </a:p>
        </p:txBody>
      </p:sp>
      <p:sp>
        <p:nvSpPr>
          <p:cNvPr id="10" name="Text 8"/>
          <p:cNvSpPr/>
          <p:nvPr/>
        </p:nvSpPr>
        <p:spPr>
          <a:xfrm>
            <a:off x="950976" y="2029968"/>
            <a:ext cx="1463040" cy="201168"/>
          </a:xfrm>
          <a:prstGeom prst="rect">
            <a:avLst/>
          </a:prstGeom>
          <a:noFill/>
          <a:ln/>
        </p:spPr>
        <p:txBody>
          <a:bodyPr wrap="square" lIns="0" tIns="0" rIns="0" bIns="0" rtlCol="0" anchor="ctr"/>
          <a:lstStyle/>
          <a:p>
            <a:pPr marL="0" indent="0" algn="ctr">
              <a:buNone/>
            </a:pPr>
            <a:r>
              <a:rPr lang="en-US" sz="800" b="1" dirty="0">
                <a:solidFill>
                  <a:srgbClr val="007A6E"/>
                </a:solidFill>
                <a:latin typeface="Calibri" pitchFamily="34" charset="0"/>
                <a:ea typeface="Calibri" pitchFamily="34" charset="-122"/>
                <a:cs typeface="Calibri" pitchFamily="34" charset="-120"/>
              </a:rPr>
              <a:t>~50€/lead · 1% venta</a:t>
            </a:r>
            <a:endParaRPr lang="en-US" sz="800" dirty="0"/>
          </a:p>
        </p:txBody>
      </p:sp>
      <p:sp>
        <p:nvSpPr>
          <p:cNvPr id="11" name="Shape 9"/>
          <p:cNvSpPr/>
          <p:nvPr/>
        </p:nvSpPr>
        <p:spPr>
          <a:xfrm>
            <a:off x="438912" y="2304288"/>
            <a:ext cx="4005072" cy="22860"/>
          </a:xfrm>
          <a:prstGeom prst="rect">
            <a:avLst/>
          </a:prstGeom>
          <a:solidFill>
            <a:srgbClr val="E2EAF2"/>
          </a:solidFill>
          <a:ln w="12700">
            <a:solidFill>
              <a:srgbClr val="E2EAF2"/>
            </a:solidFill>
            <a:prstDash val="solid"/>
          </a:ln>
        </p:spPr>
        <p:txBody>
          <a:bodyPr/>
          <a:lstStyle/>
          <a:p>
            <a:endParaRPr lang="es-ES"/>
          </a:p>
        </p:txBody>
      </p:sp>
      <p:sp>
        <p:nvSpPr>
          <p:cNvPr id="12" name="Shape 10"/>
          <p:cNvSpPr/>
          <p:nvPr/>
        </p:nvSpPr>
        <p:spPr>
          <a:xfrm>
            <a:off x="438912" y="2468880"/>
            <a:ext cx="384048" cy="384048"/>
          </a:xfrm>
          <a:prstGeom prst="ellipse">
            <a:avLst/>
          </a:prstGeom>
          <a:solidFill>
            <a:srgbClr val="00B4A0"/>
          </a:solidFill>
          <a:ln w="12700">
            <a:solidFill>
              <a:srgbClr val="00B4A0"/>
            </a:solidFill>
            <a:prstDash val="solid"/>
          </a:ln>
        </p:spPr>
        <p:txBody>
          <a:bodyPr/>
          <a:lstStyle/>
          <a:p>
            <a:endParaRPr lang="es-ES"/>
          </a:p>
        </p:txBody>
      </p:sp>
      <p:sp>
        <p:nvSpPr>
          <p:cNvPr id="13" name="Text 11"/>
          <p:cNvSpPr/>
          <p:nvPr/>
        </p:nvSpPr>
        <p:spPr>
          <a:xfrm>
            <a:off x="438912" y="2468880"/>
            <a:ext cx="384048" cy="38404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4" name="Text 12"/>
          <p:cNvSpPr/>
          <p:nvPr/>
        </p:nvSpPr>
        <p:spPr>
          <a:xfrm>
            <a:off x="950976" y="2468880"/>
            <a:ext cx="3493008" cy="237744"/>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Gestión del activo</a:t>
            </a:r>
            <a:endParaRPr lang="en-US" sz="1200" dirty="0"/>
          </a:p>
        </p:txBody>
      </p:sp>
      <p:sp>
        <p:nvSpPr>
          <p:cNvPr id="15" name="Text 13"/>
          <p:cNvSpPr/>
          <p:nvPr/>
        </p:nvSpPr>
        <p:spPr>
          <a:xfrm>
            <a:off x="950976" y="2724912"/>
            <a:ext cx="3493008" cy="502920"/>
          </a:xfrm>
          <a:prstGeom prst="rect">
            <a:avLst/>
          </a:prstGeom>
          <a:noFill/>
          <a:ln/>
        </p:spPr>
        <p:txBody>
          <a:bodyPr wrap="square" lIns="0" tIns="0" rIns="0" bIns="0" rtlCol="0" anchor="ctr"/>
          <a:lstStyle/>
          <a:p>
            <a:pPr marL="0" indent="0">
              <a:buNone/>
            </a:pPr>
            <a:r>
              <a:rPr lang="en-US" sz="1000" dirty="0">
                <a:solidFill>
                  <a:srgbClr val="1A2E44"/>
                </a:solidFill>
                <a:latin typeface="Calibri" pitchFamily="34" charset="0"/>
                <a:ea typeface="Calibri" pitchFamily="34" charset="-122"/>
                <a:cs typeface="Calibri" pitchFamily="34" charset="-120"/>
              </a:rPr>
              <a:t>Cuota SaaS mensual para la gestión proactiva e inteligente del vehículo del particular.</a:t>
            </a:r>
            <a:endParaRPr lang="en-US" sz="1000" dirty="0"/>
          </a:p>
        </p:txBody>
      </p:sp>
      <p:sp>
        <p:nvSpPr>
          <p:cNvPr id="16" name="Shape 14"/>
          <p:cNvSpPr/>
          <p:nvPr/>
        </p:nvSpPr>
        <p:spPr>
          <a:xfrm>
            <a:off x="950976" y="3236976"/>
            <a:ext cx="1463040" cy="201168"/>
          </a:xfrm>
          <a:prstGeom prst="rect">
            <a:avLst/>
          </a:prstGeom>
          <a:solidFill>
            <a:srgbClr val="E8F7F5"/>
          </a:solidFill>
          <a:ln w="12700">
            <a:solidFill>
              <a:srgbClr val="00B4A0"/>
            </a:solidFill>
            <a:prstDash val="solid"/>
          </a:ln>
        </p:spPr>
        <p:txBody>
          <a:bodyPr/>
          <a:lstStyle/>
          <a:p>
            <a:endParaRPr lang="es-ES"/>
          </a:p>
        </p:txBody>
      </p:sp>
      <p:sp>
        <p:nvSpPr>
          <p:cNvPr id="17" name="Text 15"/>
          <p:cNvSpPr/>
          <p:nvPr/>
        </p:nvSpPr>
        <p:spPr>
          <a:xfrm>
            <a:off x="950976" y="3236976"/>
            <a:ext cx="1463040" cy="201168"/>
          </a:xfrm>
          <a:prstGeom prst="rect">
            <a:avLst/>
          </a:prstGeom>
          <a:noFill/>
          <a:ln/>
        </p:spPr>
        <p:txBody>
          <a:bodyPr wrap="square" lIns="0" tIns="0" rIns="0" bIns="0" rtlCol="0" anchor="ctr"/>
          <a:lstStyle/>
          <a:p>
            <a:pPr marL="0" indent="0" algn="ctr">
              <a:buNone/>
            </a:pPr>
            <a:r>
              <a:rPr lang="en-US" sz="800" b="1" dirty="0">
                <a:solidFill>
                  <a:srgbClr val="007A6E"/>
                </a:solidFill>
                <a:latin typeface="Calibri" pitchFamily="34" charset="0"/>
                <a:ea typeface="Calibri" pitchFamily="34" charset="-122"/>
                <a:cs typeface="Calibri" pitchFamily="34" charset="-120"/>
              </a:rPr>
              <a:t>5 €/mes</a:t>
            </a:r>
            <a:endParaRPr lang="en-US" sz="800" dirty="0"/>
          </a:p>
        </p:txBody>
      </p:sp>
      <p:sp>
        <p:nvSpPr>
          <p:cNvPr id="18" name="Shape 16"/>
          <p:cNvSpPr/>
          <p:nvPr/>
        </p:nvSpPr>
        <p:spPr>
          <a:xfrm>
            <a:off x="438912" y="3511296"/>
            <a:ext cx="4005072" cy="22860"/>
          </a:xfrm>
          <a:prstGeom prst="rect">
            <a:avLst/>
          </a:prstGeom>
          <a:solidFill>
            <a:srgbClr val="E2EAF2"/>
          </a:solidFill>
          <a:ln w="12700">
            <a:solidFill>
              <a:srgbClr val="E2EAF2"/>
            </a:solidFill>
            <a:prstDash val="solid"/>
          </a:ln>
        </p:spPr>
        <p:txBody>
          <a:bodyPr/>
          <a:lstStyle/>
          <a:p>
            <a:endParaRPr lang="es-ES"/>
          </a:p>
        </p:txBody>
      </p:sp>
      <p:sp>
        <p:nvSpPr>
          <p:cNvPr id="19" name="Shape 17"/>
          <p:cNvSpPr/>
          <p:nvPr/>
        </p:nvSpPr>
        <p:spPr>
          <a:xfrm>
            <a:off x="438912" y="3675888"/>
            <a:ext cx="384048" cy="384048"/>
          </a:xfrm>
          <a:prstGeom prst="ellipse">
            <a:avLst/>
          </a:prstGeom>
          <a:solidFill>
            <a:srgbClr val="00B4A0"/>
          </a:solidFill>
          <a:ln w="12700">
            <a:solidFill>
              <a:srgbClr val="00B4A0"/>
            </a:solidFill>
            <a:prstDash val="solid"/>
          </a:ln>
        </p:spPr>
        <p:txBody>
          <a:bodyPr/>
          <a:lstStyle/>
          <a:p>
            <a:endParaRPr lang="es-ES"/>
          </a:p>
        </p:txBody>
      </p:sp>
      <p:sp>
        <p:nvSpPr>
          <p:cNvPr id="20" name="Text 18"/>
          <p:cNvSpPr/>
          <p:nvPr/>
        </p:nvSpPr>
        <p:spPr>
          <a:xfrm>
            <a:off x="438912" y="3675888"/>
            <a:ext cx="384048" cy="38404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1" name="Text 19"/>
          <p:cNvSpPr/>
          <p:nvPr/>
        </p:nvSpPr>
        <p:spPr>
          <a:xfrm>
            <a:off x="950976" y="3675888"/>
            <a:ext cx="3493008" cy="237744"/>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Mantenimiento</a:t>
            </a:r>
            <a:endParaRPr lang="en-US" sz="1200" dirty="0"/>
          </a:p>
        </p:txBody>
      </p:sp>
      <p:sp>
        <p:nvSpPr>
          <p:cNvPr id="22" name="Text 20"/>
          <p:cNvSpPr/>
          <p:nvPr/>
        </p:nvSpPr>
        <p:spPr>
          <a:xfrm>
            <a:off x="950976" y="3931920"/>
            <a:ext cx="3493008" cy="502920"/>
          </a:xfrm>
          <a:prstGeom prst="rect">
            <a:avLst/>
          </a:prstGeom>
          <a:noFill/>
          <a:ln/>
        </p:spPr>
        <p:txBody>
          <a:bodyPr wrap="square" lIns="0" tIns="0" rIns="0" bIns="0" rtlCol="0" anchor="ctr"/>
          <a:lstStyle/>
          <a:p>
            <a:pPr marL="0" indent="0">
              <a:buNone/>
            </a:pPr>
            <a:r>
              <a:rPr lang="en-US" sz="1000" dirty="0">
                <a:solidFill>
                  <a:srgbClr val="1A2E44"/>
                </a:solidFill>
                <a:latin typeface="Calibri" pitchFamily="34" charset="0"/>
                <a:ea typeface="Calibri" pitchFamily="34" charset="-122"/>
                <a:cs typeface="Calibri" pitchFamily="34" charset="-120"/>
              </a:rPr>
              <a:t>Red de talleres negociada con condiciones de renting aplicadas al particular. Markup sobre coste.</a:t>
            </a:r>
            <a:endParaRPr lang="en-US" sz="1000" dirty="0"/>
          </a:p>
        </p:txBody>
      </p:sp>
      <p:sp>
        <p:nvSpPr>
          <p:cNvPr id="23" name="Shape 21"/>
          <p:cNvSpPr/>
          <p:nvPr/>
        </p:nvSpPr>
        <p:spPr>
          <a:xfrm>
            <a:off x="950976" y="4443984"/>
            <a:ext cx="1463040" cy="201168"/>
          </a:xfrm>
          <a:prstGeom prst="rect">
            <a:avLst/>
          </a:prstGeom>
          <a:solidFill>
            <a:srgbClr val="E8F7F5"/>
          </a:solidFill>
          <a:ln w="12700">
            <a:solidFill>
              <a:srgbClr val="00B4A0"/>
            </a:solidFill>
            <a:prstDash val="solid"/>
          </a:ln>
        </p:spPr>
        <p:txBody>
          <a:bodyPr/>
          <a:lstStyle/>
          <a:p>
            <a:endParaRPr lang="es-ES"/>
          </a:p>
        </p:txBody>
      </p:sp>
      <p:sp>
        <p:nvSpPr>
          <p:cNvPr id="24" name="Text 22"/>
          <p:cNvSpPr/>
          <p:nvPr/>
        </p:nvSpPr>
        <p:spPr>
          <a:xfrm>
            <a:off x="950976" y="4443984"/>
            <a:ext cx="1463040" cy="201168"/>
          </a:xfrm>
          <a:prstGeom prst="rect">
            <a:avLst/>
          </a:prstGeom>
          <a:noFill/>
          <a:ln/>
        </p:spPr>
        <p:txBody>
          <a:bodyPr wrap="square" lIns="0" tIns="0" rIns="0" bIns="0" rtlCol="0" anchor="ctr"/>
          <a:lstStyle/>
          <a:p>
            <a:pPr marL="0" indent="0" algn="ctr">
              <a:buNone/>
            </a:pPr>
            <a:r>
              <a:rPr lang="en-US" sz="800" b="1" dirty="0">
                <a:solidFill>
                  <a:srgbClr val="007A6E"/>
                </a:solidFill>
                <a:latin typeface="Calibri" pitchFamily="34" charset="0"/>
                <a:ea typeface="Calibri" pitchFamily="34" charset="-122"/>
                <a:cs typeface="Calibri" pitchFamily="34" charset="-120"/>
              </a:rPr>
              <a:t>Markup 12–15%</a:t>
            </a:r>
            <a:endParaRPr lang="en-US" sz="800" dirty="0"/>
          </a:p>
        </p:txBody>
      </p:sp>
      <p:sp>
        <p:nvSpPr>
          <p:cNvPr id="25" name="Shape 23"/>
          <p:cNvSpPr/>
          <p:nvPr/>
        </p:nvSpPr>
        <p:spPr>
          <a:xfrm>
            <a:off x="4736592" y="1261872"/>
            <a:ext cx="384048" cy="384048"/>
          </a:xfrm>
          <a:prstGeom prst="ellipse">
            <a:avLst/>
          </a:prstGeom>
          <a:solidFill>
            <a:srgbClr val="00B4A0"/>
          </a:solidFill>
          <a:ln w="12700">
            <a:solidFill>
              <a:srgbClr val="00B4A0"/>
            </a:solidFill>
            <a:prstDash val="solid"/>
          </a:ln>
        </p:spPr>
        <p:txBody>
          <a:bodyPr/>
          <a:lstStyle/>
          <a:p>
            <a:endParaRPr lang="es-ES"/>
          </a:p>
        </p:txBody>
      </p:sp>
      <p:sp>
        <p:nvSpPr>
          <p:cNvPr id="26" name="Text 24"/>
          <p:cNvSpPr/>
          <p:nvPr/>
        </p:nvSpPr>
        <p:spPr>
          <a:xfrm>
            <a:off x="4736592" y="1261872"/>
            <a:ext cx="384048" cy="38404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7" name="Text 25"/>
          <p:cNvSpPr/>
          <p:nvPr/>
        </p:nvSpPr>
        <p:spPr>
          <a:xfrm>
            <a:off x="5248656" y="1261872"/>
            <a:ext cx="3493008" cy="237744"/>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Seguro (bróker)</a:t>
            </a:r>
            <a:endParaRPr lang="en-US" sz="1200" dirty="0"/>
          </a:p>
        </p:txBody>
      </p:sp>
      <p:sp>
        <p:nvSpPr>
          <p:cNvPr id="28" name="Text 26"/>
          <p:cNvSpPr/>
          <p:nvPr/>
        </p:nvSpPr>
        <p:spPr>
          <a:xfrm>
            <a:off x="5248656" y="1517904"/>
            <a:ext cx="3493008" cy="502920"/>
          </a:xfrm>
          <a:prstGeom prst="rect">
            <a:avLst/>
          </a:prstGeom>
          <a:noFill/>
          <a:ln/>
        </p:spPr>
        <p:txBody>
          <a:bodyPr wrap="square" lIns="0" tIns="0" rIns="0" bIns="0" rtlCol="0" anchor="ctr"/>
          <a:lstStyle/>
          <a:p>
            <a:pPr marL="0" indent="0">
              <a:buNone/>
            </a:pPr>
            <a:r>
              <a:rPr lang="en-US" sz="1000" dirty="0">
                <a:solidFill>
                  <a:srgbClr val="1A2E44"/>
                </a:solidFill>
                <a:latin typeface="Calibri" pitchFamily="34" charset="0"/>
                <a:ea typeface="Calibri" pitchFamily="34" charset="-122"/>
                <a:cs typeface="Calibri" pitchFamily="34" charset="-120"/>
              </a:rPr>
              <a:t>Comisión de mediación sobre prima. Comparación, negociación y renovación automáticas.</a:t>
            </a:r>
            <a:endParaRPr lang="en-US" sz="1000" dirty="0"/>
          </a:p>
        </p:txBody>
      </p:sp>
      <p:sp>
        <p:nvSpPr>
          <p:cNvPr id="29" name="Shape 27"/>
          <p:cNvSpPr/>
          <p:nvPr/>
        </p:nvSpPr>
        <p:spPr>
          <a:xfrm>
            <a:off x="5248656" y="2029968"/>
            <a:ext cx="1463040" cy="201168"/>
          </a:xfrm>
          <a:prstGeom prst="rect">
            <a:avLst/>
          </a:prstGeom>
          <a:solidFill>
            <a:srgbClr val="E8F7F5"/>
          </a:solidFill>
          <a:ln w="12700">
            <a:solidFill>
              <a:srgbClr val="00B4A0"/>
            </a:solidFill>
            <a:prstDash val="solid"/>
          </a:ln>
        </p:spPr>
        <p:txBody>
          <a:bodyPr/>
          <a:lstStyle/>
          <a:p>
            <a:endParaRPr lang="es-ES"/>
          </a:p>
        </p:txBody>
      </p:sp>
      <p:sp>
        <p:nvSpPr>
          <p:cNvPr id="30" name="Text 28"/>
          <p:cNvSpPr/>
          <p:nvPr/>
        </p:nvSpPr>
        <p:spPr>
          <a:xfrm>
            <a:off x="5248656" y="2029968"/>
            <a:ext cx="1463040" cy="201168"/>
          </a:xfrm>
          <a:prstGeom prst="rect">
            <a:avLst/>
          </a:prstGeom>
          <a:noFill/>
          <a:ln/>
        </p:spPr>
        <p:txBody>
          <a:bodyPr wrap="square" lIns="0" tIns="0" rIns="0" bIns="0" rtlCol="0" anchor="ctr"/>
          <a:lstStyle/>
          <a:p>
            <a:pPr marL="0" indent="0" algn="ctr">
              <a:buNone/>
            </a:pPr>
            <a:r>
              <a:rPr lang="en-US" sz="800" b="1" dirty="0">
                <a:solidFill>
                  <a:srgbClr val="007A6E"/>
                </a:solidFill>
                <a:latin typeface="Calibri" pitchFamily="34" charset="0"/>
                <a:ea typeface="Calibri" pitchFamily="34" charset="-122"/>
                <a:cs typeface="Calibri" pitchFamily="34" charset="-120"/>
              </a:rPr>
              <a:t>~10% sobre prima</a:t>
            </a:r>
            <a:endParaRPr lang="en-US" sz="800" dirty="0"/>
          </a:p>
        </p:txBody>
      </p:sp>
      <p:sp>
        <p:nvSpPr>
          <p:cNvPr id="31" name="Shape 29"/>
          <p:cNvSpPr/>
          <p:nvPr/>
        </p:nvSpPr>
        <p:spPr>
          <a:xfrm>
            <a:off x="4736592" y="2304288"/>
            <a:ext cx="4005072" cy="22860"/>
          </a:xfrm>
          <a:prstGeom prst="rect">
            <a:avLst/>
          </a:prstGeom>
          <a:solidFill>
            <a:srgbClr val="E2EAF2"/>
          </a:solidFill>
          <a:ln w="12700">
            <a:solidFill>
              <a:srgbClr val="E2EAF2"/>
            </a:solidFill>
            <a:prstDash val="solid"/>
          </a:ln>
        </p:spPr>
        <p:txBody>
          <a:bodyPr/>
          <a:lstStyle/>
          <a:p>
            <a:endParaRPr lang="es-ES"/>
          </a:p>
        </p:txBody>
      </p:sp>
      <p:sp>
        <p:nvSpPr>
          <p:cNvPr id="32" name="Shape 30"/>
          <p:cNvSpPr/>
          <p:nvPr/>
        </p:nvSpPr>
        <p:spPr>
          <a:xfrm>
            <a:off x="4736592" y="2468880"/>
            <a:ext cx="384048" cy="384048"/>
          </a:xfrm>
          <a:prstGeom prst="ellipse">
            <a:avLst/>
          </a:prstGeom>
          <a:solidFill>
            <a:srgbClr val="00B4A0"/>
          </a:solidFill>
          <a:ln w="12700">
            <a:solidFill>
              <a:srgbClr val="00B4A0"/>
            </a:solidFill>
            <a:prstDash val="solid"/>
          </a:ln>
        </p:spPr>
        <p:txBody>
          <a:bodyPr/>
          <a:lstStyle/>
          <a:p>
            <a:endParaRPr lang="es-ES"/>
          </a:p>
        </p:txBody>
      </p:sp>
      <p:sp>
        <p:nvSpPr>
          <p:cNvPr id="33" name="Text 31"/>
          <p:cNvSpPr/>
          <p:nvPr/>
        </p:nvSpPr>
        <p:spPr>
          <a:xfrm>
            <a:off x="4736592" y="2468880"/>
            <a:ext cx="384048" cy="38404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34" name="Text 32"/>
          <p:cNvSpPr/>
          <p:nvPr/>
        </p:nvSpPr>
        <p:spPr>
          <a:xfrm>
            <a:off x="5248656" y="2468880"/>
            <a:ext cx="3493008" cy="237744"/>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Venta · Certificado CarWise</a:t>
            </a:r>
            <a:endParaRPr lang="en-US" sz="1200" dirty="0"/>
          </a:p>
        </p:txBody>
      </p:sp>
      <p:sp>
        <p:nvSpPr>
          <p:cNvPr id="35" name="Text 33"/>
          <p:cNvSpPr/>
          <p:nvPr/>
        </p:nvSpPr>
        <p:spPr>
          <a:xfrm>
            <a:off x="5248656" y="2724912"/>
            <a:ext cx="3493008" cy="502920"/>
          </a:xfrm>
          <a:prstGeom prst="rect">
            <a:avLst/>
          </a:prstGeom>
          <a:noFill/>
          <a:ln/>
        </p:spPr>
        <p:txBody>
          <a:bodyPr wrap="square" lIns="0" tIns="0" rIns="0" bIns="0" rtlCol="0" anchor="ctr"/>
          <a:lstStyle/>
          <a:p>
            <a:pPr marL="0" indent="0">
              <a:buNone/>
            </a:pPr>
            <a:r>
              <a:rPr lang="en-US" sz="1000" dirty="0">
                <a:solidFill>
                  <a:srgbClr val="1A2E44"/>
                </a:solidFill>
                <a:latin typeface="Calibri" pitchFamily="34" charset="0"/>
                <a:ea typeface="Calibri" pitchFamily="34" charset="-122"/>
                <a:cs typeface="Calibri" pitchFamily="34" charset="-120"/>
              </a:rPr>
              <a:t>Tarifa plana por certificación profesional del vehículo + gestión completa de la venta online.</a:t>
            </a:r>
            <a:endParaRPr lang="en-US" sz="1000" dirty="0"/>
          </a:p>
        </p:txBody>
      </p:sp>
      <p:sp>
        <p:nvSpPr>
          <p:cNvPr id="36" name="Shape 34"/>
          <p:cNvSpPr/>
          <p:nvPr/>
        </p:nvSpPr>
        <p:spPr>
          <a:xfrm>
            <a:off x="5248656" y="3236976"/>
            <a:ext cx="1463040" cy="201168"/>
          </a:xfrm>
          <a:prstGeom prst="rect">
            <a:avLst/>
          </a:prstGeom>
          <a:solidFill>
            <a:srgbClr val="E8F7F5"/>
          </a:solidFill>
          <a:ln w="12700">
            <a:solidFill>
              <a:srgbClr val="00B4A0"/>
            </a:solidFill>
            <a:prstDash val="solid"/>
          </a:ln>
        </p:spPr>
        <p:txBody>
          <a:bodyPr/>
          <a:lstStyle/>
          <a:p>
            <a:endParaRPr lang="es-ES"/>
          </a:p>
        </p:txBody>
      </p:sp>
      <p:sp>
        <p:nvSpPr>
          <p:cNvPr id="37" name="Text 35"/>
          <p:cNvSpPr/>
          <p:nvPr/>
        </p:nvSpPr>
        <p:spPr>
          <a:xfrm>
            <a:off x="5248656" y="3236976"/>
            <a:ext cx="1463040" cy="201168"/>
          </a:xfrm>
          <a:prstGeom prst="rect">
            <a:avLst/>
          </a:prstGeom>
          <a:noFill/>
          <a:ln/>
        </p:spPr>
        <p:txBody>
          <a:bodyPr wrap="square" lIns="0" tIns="0" rIns="0" bIns="0" rtlCol="0" anchor="ctr"/>
          <a:lstStyle/>
          <a:p>
            <a:pPr marL="0" indent="0" algn="ctr">
              <a:buNone/>
            </a:pPr>
            <a:r>
              <a:rPr lang="en-US" sz="800" b="1" dirty="0">
                <a:solidFill>
                  <a:srgbClr val="007A6E"/>
                </a:solidFill>
                <a:latin typeface="Calibri" pitchFamily="34" charset="0"/>
                <a:ea typeface="Calibri" pitchFamily="34" charset="-122"/>
                <a:cs typeface="Calibri" pitchFamily="34" charset="-120"/>
              </a:rPr>
              <a:t>300 € certificación</a:t>
            </a:r>
            <a:endParaRPr lang="en-US" sz="800" dirty="0"/>
          </a:p>
        </p:txBody>
      </p:sp>
      <p:sp>
        <p:nvSpPr>
          <p:cNvPr id="38" name="Shape 36"/>
          <p:cNvSpPr/>
          <p:nvPr/>
        </p:nvSpPr>
        <p:spPr>
          <a:xfrm>
            <a:off x="4736592" y="3511296"/>
            <a:ext cx="4005072" cy="22860"/>
          </a:xfrm>
          <a:prstGeom prst="rect">
            <a:avLst/>
          </a:prstGeom>
          <a:solidFill>
            <a:srgbClr val="E2EAF2"/>
          </a:solidFill>
          <a:ln w="12700">
            <a:solidFill>
              <a:srgbClr val="E2EAF2"/>
            </a:solidFill>
            <a:prstDash val="solid"/>
          </a:ln>
        </p:spPr>
        <p:txBody>
          <a:bodyPr/>
          <a:lstStyle/>
          <a:p>
            <a:endParaRPr lang="es-ES"/>
          </a:p>
        </p:txBody>
      </p:sp>
      <p:sp>
        <p:nvSpPr>
          <p:cNvPr id="39" name="Shape 37"/>
          <p:cNvSpPr/>
          <p:nvPr/>
        </p:nvSpPr>
        <p:spPr>
          <a:xfrm>
            <a:off x="4736592" y="3675888"/>
            <a:ext cx="384048" cy="384048"/>
          </a:xfrm>
          <a:prstGeom prst="ellipse">
            <a:avLst/>
          </a:prstGeom>
          <a:solidFill>
            <a:srgbClr val="00B4A0"/>
          </a:solidFill>
          <a:ln w="12700">
            <a:solidFill>
              <a:srgbClr val="00B4A0"/>
            </a:solidFill>
            <a:prstDash val="solid"/>
          </a:ln>
        </p:spPr>
        <p:txBody>
          <a:bodyPr/>
          <a:lstStyle/>
          <a:p>
            <a:endParaRPr lang="es-ES"/>
          </a:p>
        </p:txBody>
      </p:sp>
      <p:sp>
        <p:nvSpPr>
          <p:cNvPr id="40" name="Text 38"/>
          <p:cNvSpPr/>
          <p:nvPr/>
        </p:nvSpPr>
        <p:spPr>
          <a:xfrm>
            <a:off x="4736592" y="3675888"/>
            <a:ext cx="384048" cy="38404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41" name="Text 39"/>
          <p:cNvSpPr/>
          <p:nvPr/>
        </p:nvSpPr>
        <p:spPr>
          <a:xfrm>
            <a:off x="5248656" y="3675888"/>
            <a:ext cx="3493008" cy="237744"/>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Financiación</a:t>
            </a:r>
            <a:endParaRPr lang="en-US" sz="1200" dirty="0"/>
          </a:p>
        </p:txBody>
      </p:sp>
      <p:sp>
        <p:nvSpPr>
          <p:cNvPr id="42" name="Text 40"/>
          <p:cNvSpPr/>
          <p:nvPr/>
        </p:nvSpPr>
        <p:spPr>
          <a:xfrm>
            <a:off x="5248656" y="3931920"/>
            <a:ext cx="3493008" cy="502920"/>
          </a:xfrm>
          <a:prstGeom prst="rect">
            <a:avLst/>
          </a:prstGeom>
          <a:noFill/>
          <a:ln/>
        </p:spPr>
        <p:txBody>
          <a:bodyPr wrap="square" lIns="0" tIns="0" rIns="0" bIns="0" rtlCol="0" anchor="ctr"/>
          <a:lstStyle/>
          <a:p>
            <a:pPr marL="0" indent="0">
              <a:buNone/>
            </a:pPr>
            <a:r>
              <a:rPr lang="en-US" sz="1000" dirty="0">
                <a:solidFill>
                  <a:srgbClr val="1A2E44"/>
                </a:solidFill>
                <a:latin typeface="Calibri" pitchFamily="34" charset="0"/>
                <a:ea typeface="Calibri" pitchFamily="34" charset="-122"/>
                <a:cs typeface="Calibri" pitchFamily="34" charset="-120"/>
              </a:rPr>
              <a:t>Crédito preconcedido al comprador a través de entidad financiera. Margen sobre el tipo de interés comercializado.</a:t>
            </a:r>
            <a:endParaRPr lang="en-US" sz="1000" dirty="0"/>
          </a:p>
        </p:txBody>
      </p:sp>
      <p:sp>
        <p:nvSpPr>
          <p:cNvPr id="43" name="Shape 41"/>
          <p:cNvSpPr/>
          <p:nvPr/>
        </p:nvSpPr>
        <p:spPr>
          <a:xfrm>
            <a:off x="5248656" y="4443984"/>
            <a:ext cx="1463040" cy="201168"/>
          </a:xfrm>
          <a:prstGeom prst="rect">
            <a:avLst/>
          </a:prstGeom>
          <a:solidFill>
            <a:srgbClr val="E8F7F5"/>
          </a:solidFill>
          <a:ln w="12700">
            <a:solidFill>
              <a:srgbClr val="00B4A0"/>
            </a:solidFill>
            <a:prstDash val="solid"/>
          </a:ln>
        </p:spPr>
        <p:txBody>
          <a:bodyPr/>
          <a:lstStyle/>
          <a:p>
            <a:endParaRPr lang="es-ES"/>
          </a:p>
        </p:txBody>
      </p:sp>
      <p:sp>
        <p:nvSpPr>
          <p:cNvPr id="44" name="Text 42"/>
          <p:cNvSpPr/>
          <p:nvPr/>
        </p:nvSpPr>
        <p:spPr>
          <a:xfrm>
            <a:off x="5248656" y="4443984"/>
            <a:ext cx="1463040" cy="201168"/>
          </a:xfrm>
          <a:prstGeom prst="rect">
            <a:avLst/>
          </a:prstGeom>
          <a:noFill/>
          <a:ln/>
        </p:spPr>
        <p:txBody>
          <a:bodyPr wrap="square" lIns="0" tIns="0" rIns="0" bIns="0" rtlCol="0" anchor="ctr"/>
          <a:lstStyle/>
          <a:p>
            <a:pPr marL="0" indent="0" algn="ctr">
              <a:buNone/>
            </a:pPr>
            <a:r>
              <a:rPr lang="en-US" sz="800" b="1" dirty="0">
                <a:solidFill>
                  <a:srgbClr val="007A6E"/>
                </a:solidFill>
                <a:latin typeface="Calibri" pitchFamily="34" charset="0"/>
                <a:ea typeface="Calibri" pitchFamily="34" charset="-122"/>
                <a:cs typeface="Calibri" pitchFamily="34" charset="-120"/>
              </a:rPr>
              <a:t>+1% sobre TIN</a:t>
            </a:r>
            <a:endParaRPr lang="en-US" sz="800" dirty="0"/>
          </a:p>
        </p:txBody>
      </p:sp>
      <p:sp>
        <p:nvSpPr>
          <p:cNvPr id="45" name="Shape 43"/>
          <p:cNvSpPr/>
          <p:nvPr/>
        </p:nvSpPr>
        <p:spPr>
          <a:xfrm>
            <a:off x="4544568" y="1097280"/>
            <a:ext cx="18288" cy="3840480"/>
          </a:xfrm>
          <a:prstGeom prst="rect">
            <a:avLst/>
          </a:prstGeom>
          <a:solidFill>
            <a:srgbClr val="E2EAF2"/>
          </a:solidFill>
          <a:ln w="12700">
            <a:solidFill>
              <a:srgbClr val="E2EAF2"/>
            </a:solidFill>
            <a:prstDash val="solid"/>
          </a:ln>
        </p:spPr>
        <p:txBody>
          <a:bodyPr/>
          <a:lstStyle/>
          <a:p>
            <a:endParaRPr lang="es-ES"/>
          </a:p>
        </p:txBody>
      </p:sp>
      <p:pic>
        <p:nvPicPr>
          <p:cNvPr id="46" name="Image 0" descr="preencoded.png">
            <a:extLst>
              <a:ext uri="{FF2B5EF4-FFF2-40B4-BE49-F238E27FC236}">
                <a16:creationId xmlns:a16="http://schemas.microsoft.com/office/drawing/2014/main" id="{2C7A97E2-4DAB-D0F6-A79A-50BDB973509F}"/>
              </a:ext>
            </a:extLst>
          </p:cNvPr>
          <p:cNvPicPr>
            <a:picLocks noChangeAspect="1"/>
          </p:cNvPicPr>
          <p:nvPr/>
        </p:nvPicPr>
        <p:blipFill>
          <a:blip r:embed="rId3"/>
          <a:stretch>
            <a:fillRect/>
          </a:stretch>
        </p:blipFill>
        <p:spPr>
          <a:xfrm>
            <a:off x="7909560" y="91440"/>
            <a:ext cx="1005840" cy="7579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4" name="Text 1"/>
          <p:cNvSpPr/>
          <p:nvPr/>
        </p:nvSpPr>
        <p:spPr>
          <a:xfrm>
            <a:off x="457200" y="256032"/>
            <a:ext cx="4572000" cy="201168"/>
          </a:xfrm>
          <a:prstGeom prst="rect">
            <a:avLst/>
          </a:prstGeom>
          <a:noFill/>
          <a:ln/>
        </p:spPr>
        <p:txBody>
          <a:bodyPr wrap="square" lIns="0" tIns="0" rIns="0" bIns="0" rtlCol="0" anchor="ctr"/>
          <a:lstStyle/>
          <a:p>
            <a:pPr marL="0" indent="0">
              <a:buNone/>
            </a:pPr>
            <a:r>
              <a:rPr lang="en-US" sz="800" b="1" kern="0" spc="300" dirty="0">
                <a:solidFill>
                  <a:srgbClr val="00B4A0"/>
                </a:solidFill>
                <a:latin typeface="Calibri" pitchFamily="34" charset="0"/>
                <a:ea typeface="Calibri" pitchFamily="34" charset="-122"/>
                <a:cs typeface="Calibri" pitchFamily="34" charset="-120"/>
              </a:rPr>
              <a:t>MERCADO</a:t>
            </a:r>
            <a:endParaRPr lang="en-US" sz="800" dirty="0"/>
          </a:p>
        </p:txBody>
      </p:sp>
      <p:sp>
        <p:nvSpPr>
          <p:cNvPr id="5" name="Text 2"/>
          <p:cNvSpPr/>
          <p:nvPr/>
        </p:nvSpPr>
        <p:spPr>
          <a:xfrm>
            <a:off x="457200" y="475488"/>
            <a:ext cx="7132320" cy="566928"/>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TAM · SAM · SOM por línea de negocio</a:t>
            </a:r>
            <a:endParaRPr lang="en-US" sz="2400" dirty="0"/>
          </a:p>
        </p:txBody>
      </p:sp>
      <p:sp>
        <p:nvSpPr>
          <p:cNvPr id="6" name="Shape 3"/>
          <p:cNvSpPr/>
          <p:nvPr/>
        </p:nvSpPr>
        <p:spPr>
          <a:xfrm>
            <a:off x="2423160" y="1097280"/>
            <a:ext cx="1920240" cy="384048"/>
          </a:xfrm>
          <a:prstGeom prst="rect">
            <a:avLst/>
          </a:prstGeom>
          <a:solidFill>
            <a:srgbClr val="3A5F7A"/>
          </a:solidFill>
          <a:ln w="12700">
            <a:solidFill>
              <a:srgbClr val="3A5F7A"/>
            </a:solidFill>
            <a:prstDash val="solid"/>
          </a:ln>
        </p:spPr>
        <p:txBody>
          <a:bodyPr/>
          <a:lstStyle/>
          <a:p>
            <a:endParaRPr lang="es-ES"/>
          </a:p>
        </p:txBody>
      </p:sp>
      <p:sp>
        <p:nvSpPr>
          <p:cNvPr id="7" name="Text 4"/>
          <p:cNvSpPr/>
          <p:nvPr/>
        </p:nvSpPr>
        <p:spPr>
          <a:xfrm>
            <a:off x="2423160" y="1097280"/>
            <a:ext cx="9144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TAM</a:t>
            </a:r>
            <a:endParaRPr lang="en-US" sz="1300" dirty="0"/>
          </a:p>
        </p:txBody>
      </p:sp>
      <p:sp>
        <p:nvSpPr>
          <p:cNvPr id="8" name="Text 5"/>
          <p:cNvSpPr/>
          <p:nvPr/>
        </p:nvSpPr>
        <p:spPr>
          <a:xfrm>
            <a:off x="3337560" y="1097280"/>
            <a:ext cx="1005840" cy="38404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mercado total</a:t>
            </a:r>
            <a:endParaRPr lang="en-US" sz="850" dirty="0"/>
          </a:p>
        </p:txBody>
      </p:sp>
      <p:sp>
        <p:nvSpPr>
          <p:cNvPr id="9" name="Shape 6"/>
          <p:cNvSpPr/>
          <p:nvPr/>
        </p:nvSpPr>
        <p:spPr>
          <a:xfrm>
            <a:off x="4681728" y="1097280"/>
            <a:ext cx="1920240" cy="384048"/>
          </a:xfrm>
          <a:prstGeom prst="rect">
            <a:avLst/>
          </a:prstGeom>
          <a:solidFill>
            <a:srgbClr val="1A8A7A"/>
          </a:solidFill>
          <a:ln w="12700">
            <a:solidFill>
              <a:srgbClr val="1A8A7A"/>
            </a:solidFill>
            <a:prstDash val="solid"/>
          </a:ln>
        </p:spPr>
        <p:txBody>
          <a:bodyPr/>
          <a:lstStyle/>
          <a:p>
            <a:endParaRPr lang="es-ES"/>
          </a:p>
        </p:txBody>
      </p:sp>
      <p:sp>
        <p:nvSpPr>
          <p:cNvPr id="10" name="Text 7"/>
          <p:cNvSpPr/>
          <p:nvPr/>
        </p:nvSpPr>
        <p:spPr>
          <a:xfrm>
            <a:off x="4681728" y="1097280"/>
            <a:ext cx="9144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SAM</a:t>
            </a:r>
            <a:endParaRPr lang="en-US" sz="1300" dirty="0"/>
          </a:p>
        </p:txBody>
      </p:sp>
      <p:sp>
        <p:nvSpPr>
          <p:cNvPr id="11" name="Text 8"/>
          <p:cNvSpPr/>
          <p:nvPr/>
        </p:nvSpPr>
        <p:spPr>
          <a:xfrm>
            <a:off x="5596128" y="1097280"/>
            <a:ext cx="1005840" cy="38404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porción accesible</a:t>
            </a:r>
            <a:endParaRPr lang="en-US" sz="850" dirty="0"/>
          </a:p>
        </p:txBody>
      </p:sp>
      <p:sp>
        <p:nvSpPr>
          <p:cNvPr id="12" name="Shape 9"/>
          <p:cNvSpPr/>
          <p:nvPr/>
        </p:nvSpPr>
        <p:spPr>
          <a:xfrm>
            <a:off x="6812280" y="1097280"/>
            <a:ext cx="1920240" cy="384048"/>
          </a:xfrm>
          <a:prstGeom prst="rect">
            <a:avLst/>
          </a:prstGeom>
          <a:solidFill>
            <a:srgbClr val="00B4A0"/>
          </a:solidFill>
          <a:ln w="12700">
            <a:solidFill>
              <a:srgbClr val="00B4A0"/>
            </a:solidFill>
            <a:prstDash val="solid"/>
          </a:ln>
        </p:spPr>
        <p:txBody>
          <a:bodyPr/>
          <a:lstStyle/>
          <a:p>
            <a:endParaRPr lang="es-ES"/>
          </a:p>
        </p:txBody>
      </p:sp>
      <p:sp>
        <p:nvSpPr>
          <p:cNvPr id="13" name="Text 10"/>
          <p:cNvSpPr/>
          <p:nvPr/>
        </p:nvSpPr>
        <p:spPr>
          <a:xfrm>
            <a:off x="6812280" y="1097280"/>
            <a:ext cx="9144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SOM</a:t>
            </a:r>
            <a:endParaRPr lang="en-US" sz="1300" dirty="0"/>
          </a:p>
        </p:txBody>
      </p:sp>
      <p:sp>
        <p:nvSpPr>
          <p:cNvPr id="14" name="Text 11"/>
          <p:cNvSpPr/>
          <p:nvPr/>
        </p:nvSpPr>
        <p:spPr>
          <a:xfrm>
            <a:off x="7726680" y="1097280"/>
            <a:ext cx="1005840" cy="38404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captura año 3–5</a:t>
            </a:r>
            <a:endParaRPr lang="en-US" sz="850" dirty="0"/>
          </a:p>
        </p:txBody>
      </p:sp>
      <p:sp>
        <p:nvSpPr>
          <p:cNvPr id="15" name="Shape 12"/>
          <p:cNvSpPr/>
          <p:nvPr/>
        </p:nvSpPr>
        <p:spPr>
          <a:xfrm>
            <a:off x="438912" y="1517904"/>
            <a:ext cx="8321040" cy="521208"/>
          </a:xfrm>
          <a:prstGeom prst="rect">
            <a:avLst/>
          </a:prstGeom>
          <a:solidFill>
            <a:srgbClr val="0A1520"/>
          </a:solidFill>
          <a:ln w="12700">
            <a:solidFill>
              <a:srgbClr val="0A1520"/>
            </a:solidFill>
            <a:prstDash val="solid"/>
          </a:ln>
        </p:spPr>
        <p:txBody>
          <a:bodyPr/>
          <a:lstStyle/>
          <a:p>
            <a:endParaRPr lang="es-ES"/>
          </a:p>
        </p:txBody>
      </p:sp>
      <p:sp>
        <p:nvSpPr>
          <p:cNvPr id="16" name="Text 13"/>
          <p:cNvSpPr/>
          <p:nvPr/>
        </p:nvSpPr>
        <p:spPr>
          <a:xfrm>
            <a:off x="502920" y="1627632"/>
            <a:ext cx="1828800" cy="274320"/>
          </a:xfrm>
          <a:prstGeom prst="rect">
            <a:avLst/>
          </a:prstGeom>
          <a:noFill/>
          <a:ln/>
        </p:spPr>
        <p:txBody>
          <a:bodyPr wrap="square" lIns="0" tIns="0" rIns="0" bIns="0" rtlCol="0" anchor="ctr"/>
          <a:lstStyle/>
          <a:p>
            <a:pPr marL="0" indent="0">
              <a:buNone/>
            </a:pPr>
            <a:r>
              <a:rPr lang="en-US" sz="1000" b="1" dirty="0">
                <a:solidFill>
                  <a:srgbClr val="E2EAF2"/>
                </a:solidFill>
                <a:latin typeface="Calibri" pitchFamily="34" charset="0"/>
                <a:ea typeface="Calibri" pitchFamily="34" charset="-122"/>
                <a:cs typeface="Calibri" pitchFamily="34" charset="-120"/>
              </a:rPr>
              <a:t>Intermediación VO</a:t>
            </a:r>
            <a:endParaRPr lang="en-US" sz="1000" dirty="0"/>
          </a:p>
        </p:txBody>
      </p:sp>
      <p:sp>
        <p:nvSpPr>
          <p:cNvPr id="17" name="Shape 14"/>
          <p:cNvSpPr/>
          <p:nvPr/>
        </p:nvSpPr>
        <p:spPr>
          <a:xfrm>
            <a:off x="2423160" y="1664208"/>
            <a:ext cx="1554480" cy="201168"/>
          </a:xfrm>
          <a:prstGeom prst="rect">
            <a:avLst/>
          </a:prstGeom>
          <a:solidFill>
            <a:srgbClr val="0D2030"/>
          </a:solidFill>
          <a:ln w="12700">
            <a:solidFill>
              <a:srgbClr val="0D2030"/>
            </a:solidFill>
            <a:prstDash val="solid"/>
          </a:ln>
        </p:spPr>
        <p:txBody>
          <a:bodyPr/>
          <a:lstStyle/>
          <a:p>
            <a:endParaRPr lang="es-ES"/>
          </a:p>
        </p:txBody>
      </p:sp>
      <p:sp>
        <p:nvSpPr>
          <p:cNvPr id="18" name="Shape 15"/>
          <p:cNvSpPr/>
          <p:nvPr/>
        </p:nvSpPr>
        <p:spPr>
          <a:xfrm>
            <a:off x="2423160" y="1664208"/>
            <a:ext cx="899378" cy="201168"/>
          </a:xfrm>
          <a:prstGeom prst="rect">
            <a:avLst/>
          </a:prstGeom>
          <a:solidFill>
            <a:srgbClr val="3A5F7A"/>
          </a:solidFill>
          <a:ln w="12700">
            <a:solidFill>
              <a:srgbClr val="3A5F7A"/>
            </a:solidFill>
            <a:prstDash val="solid"/>
          </a:ln>
        </p:spPr>
        <p:txBody>
          <a:bodyPr/>
          <a:lstStyle/>
          <a:p>
            <a:endParaRPr lang="es-ES"/>
          </a:p>
        </p:txBody>
      </p:sp>
      <p:sp>
        <p:nvSpPr>
          <p:cNvPr id="19" name="Text 16"/>
          <p:cNvSpPr/>
          <p:nvPr/>
        </p:nvSpPr>
        <p:spPr>
          <a:xfrm>
            <a:off x="4050792" y="1645920"/>
            <a:ext cx="502920" cy="237744"/>
          </a:xfrm>
          <a:prstGeom prst="rect">
            <a:avLst/>
          </a:prstGeom>
          <a:noFill/>
          <a:ln/>
        </p:spPr>
        <p:txBody>
          <a:bodyPr wrap="square" lIns="0" tIns="0" rIns="0" bIns="0" rtlCol="0" anchor="ctr"/>
          <a:lstStyle/>
          <a:p>
            <a:pPr marL="0" indent="0">
              <a:buNone/>
            </a:pPr>
            <a:r>
              <a:rPr lang="en-US" sz="900" b="1" dirty="0">
                <a:solidFill>
                  <a:srgbClr val="E2EAF2"/>
                </a:solidFill>
                <a:latin typeface="Trebuchet MS" pitchFamily="34" charset="0"/>
                <a:ea typeface="Trebuchet MS" pitchFamily="34" charset="-122"/>
                <a:cs typeface="Trebuchet MS" pitchFamily="34" charset="-120"/>
              </a:rPr>
              <a:t>1.6B€</a:t>
            </a:r>
            <a:endParaRPr lang="en-US" sz="900" dirty="0"/>
          </a:p>
        </p:txBody>
      </p:sp>
      <p:sp>
        <p:nvSpPr>
          <p:cNvPr id="20" name="Shape 17"/>
          <p:cNvSpPr/>
          <p:nvPr/>
        </p:nvSpPr>
        <p:spPr>
          <a:xfrm>
            <a:off x="4681728" y="1664208"/>
            <a:ext cx="1554480" cy="201168"/>
          </a:xfrm>
          <a:prstGeom prst="rect">
            <a:avLst/>
          </a:prstGeom>
          <a:solidFill>
            <a:srgbClr val="0D2030"/>
          </a:solidFill>
          <a:ln w="12700">
            <a:solidFill>
              <a:srgbClr val="0D2030"/>
            </a:solidFill>
            <a:prstDash val="solid"/>
          </a:ln>
        </p:spPr>
        <p:txBody>
          <a:bodyPr/>
          <a:lstStyle/>
          <a:p>
            <a:endParaRPr lang="es-ES"/>
          </a:p>
        </p:txBody>
      </p:sp>
      <p:sp>
        <p:nvSpPr>
          <p:cNvPr id="21" name="Shape 18"/>
          <p:cNvSpPr/>
          <p:nvPr/>
        </p:nvSpPr>
        <p:spPr>
          <a:xfrm>
            <a:off x="4681728" y="1664208"/>
            <a:ext cx="179876" cy="201168"/>
          </a:xfrm>
          <a:prstGeom prst="rect">
            <a:avLst/>
          </a:prstGeom>
          <a:solidFill>
            <a:srgbClr val="1A8A7A"/>
          </a:solidFill>
          <a:ln w="12700">
            <a:solidFill>
              <a:srgbClr val="1A8A7A"/>
            </a:solidFill>
            <a:prstDash val="solid"/>
          </a:ln>
        </p:spPr>
        <p:txBody>
          <a:bodyPr/>
          <a:lstStyle/>
          <a:p>
            <a:endParaRPr lang="es-ES"/>
          </a:p>
        </p:txBody>
      </p:sp>
      <p:sp>
        <p:nvSpPr>
          <p:cNvPr id="22" name="Text 19"/>
          <p:cNvSpPr/>
          <p:nvPr/>
        </p:nvSpPr>
        <p:spPr>
          <a:xfrm>
            <a:off x="6309360" y="1645920"/>
            <a:ext cx="502920" cy="237744"/>
          </a:xfrm>
          <a:prstGeom prst="rect">
            <a:avLst/>
          </a:prstGeom>
          <a:noFill/>
          <a:ln/>
        </p:spPr>
        <p:txBody>
          <a:bodyPr wrap="square" lIns="0" tIns="0" rIns="0" bIns="0" rtlCol="0" anchor="ctr"/>
          <a:lstStyle/>
          <a:p>
            <a:pPr marL="0" indent="0">
              <a:buNone/>
            </a:pPr>
            <a:r>
              <a:rPr lang="en-US" sz="900" b="1" dirty="0">
                <a:solidFill>
                  <a:srgbClr val="E2EAF2"/>
                </a:solidFill>
                <a:latin typeface="Trebuchet MS" pitchFamily="34" charset="0"/>
                <a:ea typeface="Trebuchet MS" pitchFamily="34" charset="-122"/>
                <a:cs typeface="Trebuchet MS" pitchFamily="34" charset="-120"/>
              </a:rPr>
              <a:t>324M€</a:t>
            </a:r>
            <a:endParaRPr lang="en-US" sz="900" dirty="0"/>
          </a:p>
        </p:txBody>
      </p:sp>
      <p:sp>
        <p:nvSpPr>
          <p:cNvPr id="23" name="Shape 20"/>
          <p:cNvSpPr/>
          <p:nvPr/>
        </p:nvSpPr>
        <p:spPr>
          <a:xfrm>
            <a:off x="6812280" y="1664208"/>
            <a:ext cx="1554480" cy="201168"/>
          </a:xfrm>
          <a:prstGeom prst="rect">
            <a:avLst/>
          </a:prstGeom>
          <a:solidFill>
            <a:srgbClr val="0D2030"/>
          </a:solidFill>
          <a:ln w="12700">
            <a:solidFill>
              <a:srgbClr val="0D2030"/>
            </a:solidFill>
            <a:prstDash val="solid"/>
          </a:ln>
        </p:spPr>
        <p:txBody>
          <a:bodyPr/>
          <a:lstStyle/>
          <a:p>
            <a:endParaRPr lang="es-ES"/>
          </a:p>
        </p:txBody>
      </p:sp>
      <p:sp>
        <p:nvSpPr>
          <p:cNvPr id="24" name="Shape 21"/>
          <p:cNvSpPr/>
          <p:nvPr/>
        </p:nvSpPr>
        <p:spPr>
          <a:xfrm>
            <a:off x="6812280" y="1664208"/>
            <a:ext cx="109728" cy="201168"/>
          </a:xfrm>
          <a:prstGeom prst="rect">
            <a:avLst/>
          </a:prstGeom>
          <a:solidFill>
            <a:srgbClr val="00B4A0"/>
          </a:solidFill>
          <a:ln w="12700">
            <a:solidFill>
              <a:srgbClr val="00B4A0"/>
            </a:solidFill>
            <a:prstDash val="solid"/>
          </a:ln>
        </p:spPr>
        <p:txBody>
          <a:bodyPr/>
          <a:lstStyle/>
          <a:p>
            <a:endParaRPr lang="es-ES"/>
          </a:p>
        </p:txBody>
      </p:sp>
      <p:sp>
        <p:nvSpPr>
          <p:cNvPr id="25" name="Text 22"/>
          <p:cNvSpPr/>
          <p:nvPr/>
        </p:nvSpPr>
        <p:spPr>
          <a:xfrm>
            <a:off x="8439912" y="1645920"/>
            <a:ext cx="502920" cy="237744"/>
          </a:xfrm>
          <a:prstGeom prst="rect">
            <a:avLst/>
          </a:prstGeom>
          <a:noFill/>
          <a:ln/>
        </p:spPr>
        <p:txBody>
          <a:bodyPr wrap="square" lIns="0" tIns="0" rIns="0" bIns="0" rtlCol="0" anchor="ctr"/>
          <a:lstStyle/>
          <a:p>
            <a:pPr marL="0" indent="0">
              <a:buNone/>
            </a:pPr>
            <a:r>
              <a:rPr lang="en-US" sz="900" b="1" dirty="0">
                <a:solidFill>
                  <a:srgbClr val="00B4A0"/>
                </a:solidFill>
                <a:latin typeface="Trebuchet MS" pitchFamily="34" charset="0"/>
                <a:ea typeface="Trebuchet MS" pitchFamily="34" charset="-122"/>
                <a:cs typeface="Trebuchet MS" pitchFamily="34" charset="-120"/>
              </a:rPr>
              <a:t>80M€</a:t>
            </a:r>
            <a:endParaRPr lang="en-US" sz="900" dirty="0"/>
          </a:p>
        </p:txBody>
      </p:sp>
      <p:sp>
        <p:nvSpPr>
          <p:cNvPr id="26" name="Text 23"/>
          <p:cNvSpPr/>
          <p:nvPr/>
        </p:nvSpPr>
        <p:spPr>
          <a:xfrm>
            <a:off x="502920" y="2148840"/>
            <a:ext cx="1828800" cy="274320"/>
          </a:xfrm>
          <a:prstGeom prst="rect">
            <a:avLst/>
          </a:prstGeom>
          <a:noFill/>
          <a:ln/>
        </p:spPr>
        <p:txBody>
          <a:bodyPr wrap="square" lIns="0" tIns="0" rIns="0" bIns="0" rtlCol="0" anchor="ctr"/>
          <a:lstStyle/>
          <a:p>
            <a:pPr marL="0" indent="0">
              <a:buNone/>
            </a:pPr>
            <a:r>
              <a:rPr lang="en-US" sz="1000" b="1" dirty="0">
                <a:solidFill>
                  <a:srgbClr val="E2EAF2"/>
                </a:solidFill>
                <a:latin typeface="Calibri" pitchFamily="34" charset="0"/>
                <a:ea typeface="Calibri" pitchFamily="34" charset="-122"/>
                <a:cs typeface="Calibri" pitchFamily="34" charset="-120"/>
              </a:rPr>
              <a:t>Gestión activo (SaaS)</a:t>
            </a:r>
            <a:endParaRPr lang="en-US" sz="1000" dirty="0"/>
          </a:p>
        </p:txBody>
      </p:sp>
      <p:sp>
        <p:nvSpPr>
          <p:cNvPr id="27" name="Shape 24"/>
          <p:cNvSpPr/>
          <p:nvPr/>
        </p:nvSpPr>
        <p:spPr>
          <a:xfrm>
            <a:off x="2423160" y="2185416"/>
            <a:ext cx="1554480" cy="201168"/>
          </a:xfrm>
          <a:prstGeom prst="rect">
            <a:avLst/>
          </a:prstGeom>
          <a:solidFill>
            <a:srgbClr val="0D2030"/>
          </a:solidFill>
          <a:ln w="12700">
            <a:solidFill>
              <a:srgbClr val="0D2030"/>
            </a:solidFill>
            <a:prstDash val="solid"/>
          </a:ln>
        </p:spPr>
        <p:txBody>
          <a:bodyPr/>
          <a:lstStyle/>
          <a:p>
            <a:endParaRPr lang="es-ES"/>
          </a:p>
        </p:txBody>
      </p:sp>
      <p:sp>
        <p:nvSpPr>
          <p:cNvPr id="28" name="Shape 25"/>
          <p:cNvSpPr/>
          <p:nvPr/>
        </p:nvSpPr>
        <p:spPr>
          <a:xfrm>
            <a:off x="2423160" y="2185416"/>
            <a:ext cx="1156422" cy="201168"/>
          </a:xfrm>
          <a:prstGeom prst="rect">
            <a:avLst/>
          </a:prstGeom>
          <a:solidFill>
            <a:srgbClr val="3A5F7A"/>
          </a:solidFill>
          <a:ln w="12700">
            <a:solidFill>
              <a:srgbClr val="3A5F7A"/>
            </a:solidFill>
            <a:prstDash val="solid"/>
          </a:ln>
        </p:spPr>
        <p:txBody>
          <a:bodyPr/>
          <a:lstStyle/>
          <a:p>
            <a:endParaRPr lang="es-ES"/>
          </a:p>
        </p:txBody>
      </p:sp>
      <p:sp>
        <p:nvSpPr>
          <p:cNvPr id="29" name="Text 26"/>
          <p:cNvSpPr/>
          <p:nvPr/>
        </p:nvSpPr>
        <p:spPr>
          <a:xfrm>
            <a:off x="4050792" y="2167128"/>
            <a:ext cx="502920" cy="237744"/>
          </a:xfrm>
          <a:prstGeom prst="rect">
            <a:avLst/>
          </a:prstGeom>
          <a:noFill/>
          <a:ln/>
        </p:spPr>
        <p:txBody>
          <a:bodyPr wrap="square" lIns="0" tIns="0" rIns="0" bIns="0" rtlCol="0" anchor="ctr"/>
          <a:lstStyle/>
          <a:p>
            <a:pPr marL="0" indent="0">
              <a:buNone/>
            </a:pPr>
            <a:r>
              <a:rPr lang="en-US" sz="900" b="1" dirty="0">
                <a:solidFill>
                  <a:srgbClr val="E2EAF2"/>
                </a:solidFill>
                <a:latin typeface="Trebuchet MS" pitchFamily="34" charset="0"/>
                <a:ea typeface="Trebuchet MS" pitchFamily="34" charset="-122"/>
                <a:cs typeface="Trebuchet MS" pitchFamily="34" charset="-120"/>
              </a:rPr>
              <a:t>2.1B€</a:t>
            </a:r>
            <a:endParaRPr lang="en-US" sz="900" dirty="0"/>
          </a:p>
        </p:txBody>
      </p:sp>
      <p:sp>
        <p:nvSpPr>
          <p:cNvPr id="30" name="Shape 27"/>
          <p:cNvSpPr/>
          <p:nvPr/>
        </p:nvSpPr>
        <p:spPr>
          <a:xfrm>
            <a:off x="4681728" y="2185416"/>
            <a:ext cx="1554480" cy="201168"/>
          </a:xfrm>
          <a:prstGeom prst="rect">
            <a:avLst/>
          </a:prstGeom>
          <a:solidFill>
            <a:srgbClr val="0D2030"/>
          </a:solidFill>
          <a:ln w="12700">
            <a:solidFill>
              <a:srgbClr val="0D2030"/>
            </a:solidFill>
            <a:prstDash val="solid"/>
          </a:ln>
        </p:spPr>
        <p:txBody>
          <a:bodyPr/>
          <a:lstStyle/>
          <a:p>
            <a:endParaRPr lang="es-ES"/>
          </a:p>
        </p:txBody>
      </p:sp>
      <p:sp>
        <p:nvSpPr>
          <p:cNvPr id="31" name="Shape 28"/>
          <p:cNvSpPr/>
          <p:nvPr/>
        </p:nvSpPr>
        <p:spPr>
          <a:xfrm>
            <a:off x="4681728" y="2185416"/>
            <a:ext cx="173213" cy="201168"/>
          </a:xfrm>
          <a:prstGeom prst="rect">
            <a:avLst/>
          </a:prstGeom>
          <a:solidFill>
            <a:srgbClr val="1A8A7A"/>
          </a:solidFill>
          <a:ln w="12700">
            <a:solidFill>
              <a:srgbClr val="1A8A7A"/>
            </a:solidFill>
            <a:prstDash val="solid"/>
          </a:ln>
        </p:spPr>
        <p:txBody>
          <a:bodyPr/>
          <a:lstStyle/>
          <a:p>
            <a:endParaRPr lang="es-ES"/>
          </a:p>
        </p:txBody>
      </p:sp>
      <p:sp>
        <p:nvSpPr>
          <p:cNvPr id="32" name="Text 29"/>
          <p:cNvSpPr/>
          <p:nvPr/>
        </p:nvSpPr>
        <p:spPr>
          <a:xfrm>
            <a:off x="6309360" y="2167128"/>
            <a:ext cx="502920" cy="237744"/>
          </a:xfrm>
          <a:prstGeom prst="rect">
            <a:avLst/>
          </a:prstGeom>
          <a:noFill/>
          <a:ln/>
        </p:spPr>
        <p:txBody>
          <a:bodyPr wrap="square" lIns="0" tIns="0" rIns="0" bIns="0" rtlCol="0" anchor="ctr"/>
          <a:lstStyle/>
          <a:p>
            <a:pPr marL="0" indent="0">
              <a:buNone/>
            </a:pPr>
            <a:r>
              <a:rPr lang="en-US" sz="900" b="1" dirty="0">
                <a:solidFill>
                  <a:srgbClr val="E2EAF2"/>
                </a:solidFill>
                <a:latin typeface="Trebuchet MS" pitchFamily="34" charset="0"/>
                <a:ea typeface="Trebuchet MS" pitchFamily="34" charset="-122"/>
                <a:cs typeface="Trebuchet MS" pitchFamily="34" charset="-120"/>
              </a:rPr>
              <a:t>312M€</a:t>
            </a:r>
            <a:endParaRPr lang="en-US" sz="900" dirty="0"/>
          </a:p>
        </p:txBody>
      </p:sp>
      <p:sp>
        <p:nvSpPr>
          <p:cNvPr id="33" name="Shape 30"/>
          <p:cNvSpPr/>
          <p:nvPr/>
        </p:nvSpPr>
        <p:spPr>
          <a:xfrm>
            <a:off x="6812280" y="2185416"/>
            <a:ext cx="1554480" cy="201168"/>
          </a:xfrm>
          <a:prstGeom prst="rect">
            <a:avLst/>
          </a:prstGeom>
          <a:solidFill>
            <a:srgbClr val="0D2030"/>
          </a:solidFill>
          <a:ln w="12700">
            <a:solidFill>
              <a:srgbClr val="0D2030"/>
            </a:solidFill>
            <a:prstDash val="solid"/>
          </a:ln>
        </p:spPr>
        <p:txBody>
          <a:bodyPr/>
          <a:lstStyle/>
          <a:p>
            <a:endParaRPr lang="es-ES"/>
          </a:p>
        </p:txBody>
      </p:sp>
      <p:sp>
        <p:nvSpPr>
          <p:cNvPr id="34" name="Shape 31"/>
          <p:cNvSpPr/>
          <p:nvPr/>
        </p:nvSpPr>
        <p:spPr>
          <a:xfrm>
            <a:off x="6812280" y="2185416"/>
            <a:ext cx="109728" cy="201168"/>
          </a:xfrm>
          <a:prstGeom prst="rect">
            <a:avLst/>
          </a:prstGeom>
          <a:solidFill>
            <a:srgbClr val="00B4A0"/>
          </a:solidFill>
          <a:ln w="12700">
            <a:solidFill>
              <a:srgbClr val="00B4A0"/>
            </a:solidFill>
            <a:prstDash val="solid"/>
          </a:ln>
        </p:spPr>
        <p:txBody>
          <a:bodyPr/>
          <a:lstStyle/>
          <a:p>
            <a:endParaRPr lang="es-ES"/>
          </a:p>
        </p:txBody>
      </p:sp>
      <p:sp>
        <p:nvSpPr>
          <p:cNvPr id="35" name="Text 32"/>
          <p:cNvSpPr/>
          <p:nvPr/>
        </p:nvSpPr>
        <p:spPr>
          <a:xfrm>
            <a:off x="8439912" y="2167128"/>
            <a:ext cx="502920" cy="237744"/>
          </a:xfrm>
          <a:prstGeom prst="rect">
            <a:avLst/>
          </a:prstGeom>
          <a:noFill/>
          <a:ln/>
        </p:spPr>
        <p:txBody>
          <a:bodyPr wrap="square" lIns="0" tIns="0" rIns="0" bIns="0" rtlCol="0" anchor="ctr"/>
          <a:lstStyle/>
          <a:p>
            <a:pPr marL="0" indent="0">
              <a:buNone/>
            </a:pPr>
            <a:r>
              <a:rPr lang="en-US" sz="900" b="1" dirty="0">
                <a:solidFill>
                  <a:srgbClr val="00B4A0"/>
                </a:solidFill>
                <a:latin typeface="Trebuchet MS" pitchFamily="34" charset="0"/>
                <a:ea typeface="Trebuchet MS" pitchFamily="34" charset="-122"/>
                <a:cs typeface="Trebuchet MS" pitchFamily="34" charset="-120"/>
              </a:rPr>
              <a:t>21M€</a:t>
            </a:r>
            <a:endParaRPr lang="en-US" sz="900" dirty="0"/>
          </a:p>
        </p:txBody>
      </p:sp>
      <p:sp>
        <p:nvSpPr>
          <p:cNvPr id="36" name="Shape 33"/>
          <p:cNvSpPr/>
          <p:nvPr/>
        </p:nvSpPr>
        <p:spPr>
          <a:xfrm>
            <a:off x="438912" y="2560320"/>
            <a:ext cx="8321040" cy="521208"/>
          </a:xfrm>
          <a:prstGeom prst="rect">
            <a:avLst/>
          </a:prstGeom>
          <a:solidFill>
            <a:srgbClr val="0A1520"/>
          </a:solidFill>
          <a:ln w="12700">
            <a:solidFill>
              <a:srgbClr val="0A1520"/>
            </a:solidFill>
            <a:prstDash val="solid"/>
          </a:ln>
        </p:spPr>
        <p:txBody>
          <a:bodyPr/>
          <a:lstStyle/>
          <a:p>
            <a:endParaRPr lang="es-ES"/>
          </a:p>
        </p:txBody>
      </p:sp>
      <p:sp>
        <p:nvSpPr>
          <p:cNvPr id="37" name="Text 34"/>
          <p:cNvSpPr/>
          <p:nvPr/>
        </p:nvSpPr>
        <p:spPr>
          <a:xfrm>
            <a:off x="502920" y="2670048"/>
            <a:ext cx="1828800" cy="274320"/>
          </a:xfrm>
          <a:prstGeom prst="rect">
            <a:avLst/>
          </a:prstGeom>
          <a:noFill/>
          <a:ln/>
        </p:spPr>
        <p:txBody>
          <a:bodyPr wrap="square" lIns="0" tIns="0" rIns="0" bIns="0" rtlCol="0" anchor="ctr"/>
          <a:lstStyle/>
          <a:p>
            <a:pPr marL="0" indent="0">
              <a:buNone/>
            </a:pPr>
            <a:r>
              <a:rPr lang="en-US" sz="1000" b="1" dirty="0">
                <a:solidFill>
                  <a:srgbClr val="E2EAF2"/>
                </a:solidFill>
                <a:latin typeface="Calibri" pitchFamily="34" charset="0"/>
                <a:ea typeface="Calibri" pitchFamily="34" charset="-122"/>
                <a:cs typeface="Calibri" pitchFamily="34" charset="-120"/>
              </a:rPr>
              <a:t>Mantenimiento</a:t>
            </a:r>
            <a:endParaRPr lang="en-US" sz="1000" dirty="0"/>
          </a:p>
        </p:txBody>
      </p:sp>
      <p:sp>
        <p:nvSpPr>
          <p:cNvPr id="38" name="Shape 35"/>
          <p:cNvSpPr/>
          <p:nvPr/>
        </p:nvSpPr>
        <p:spPr>
          <a:xfrm>
            <a:off x="2423160" y="2706624"/>
            <a:ext cx="1554480" cy="201168"/>
          </a:xfrm>
          <a:prstGeom prst="rect">
            <a:avLst/>
          </a:prstGeom>
          <a:solidFill>
            <a:srgbClr val="0D2030"/>
          </a:solidFill>
          <a:ln w="12700">
            <a:solidFill>
              <a:srgbClr val="0D2030"/>
            </a:solidFill>
            <a:prstDash val="solid"/>
          </a:ln>
        </p:spPr>
        <p:txBody>
          <a:bodyPr/>
          <a:lstStyle/>
          <a:p>
            <a:endParaRPr lang="es-ES"/>
          </a:p>
        </p:txBody>
      </p:sp>
      <p:sp>
        <p:nvSpPr>
          <p:cNvPr id="39" name="Shape 36"/>
          <p:cNvSpPr/>
          <p:nvPr/>
        </p:nvSpPr>
        <p:spPr>
          <a:xfrm>
            <a:off x="2423160" y="2706624"/>
            <a:ext cx="505206" cy="201168"/>
          </a:xfrm>
          <a:prstGeom prst="rect">
            <a:avLst/>
          </a:prstGeom>
          <a:solidFill>
            <a:srgbClr val="3A5F7A"/>
          </a:solidFill>
          <a:ln w="12700">
            <a:solidFill>
              <a:srgbClr val="3A5F7A"/>
            </a:solidFill>
            <a:prstDash val="solid"/>
          </a:ln>
        </p:spPr>
        <p:txBody>
          <a:bodyPr/>
          <a:lstStyle/>
          <a:p>
            <a:endParaRPr lang="es-ES"/>
          </a:p>
        </p:txBody>
      </p:sp>
      <p:sp>
        <p:nvSpPr>
          <p:cNvPr id="40" name="Text 37"/>
          <p:cNvSpPr/>
          <p:nvPr/>
        </p:nvSpPr>
        <p:spPr>
          <a:xfrm>
            <a:off x="4050792" y="2688336"/>
            <a:ext cx="502920" cy="237744"/>
          </a:xfrm>
          <a:prstGeom prst="rect">
            <a:avLst/>
          </a:prstGeom>
          <a:noFill/>
          <a:ln/>
        </p:spPr>
        <p:txBody>
          <a:bodyPr wrap="square" lIns="0" tIns="0" rIns="0" bIns="0" rtlCol="0" anchor="ctr"/>
          <a:lstStyle/>
          <a:p>
            <a:pPr marL="0" indent="0">
              <a:buNone/>
            </a:pPr>
            <a:r>
              <a:rPr lang="en-US" sz="900" b="1" dirty="0">
                <a:solidFill>
                  <a:srgbClr val="E2EAF2"/>
                </a:solidFill>
                <a:latin typeface="Trebuchet MS" pitchFamily="34" charset="0"/>
                <a:ea typeface="Trebuchet MS" pitchFamily="34" charset="-122"/>
                <a:cs typeface="Trebuchet MS" pitchFamily="34" charset="-120"/>
              </a:rPr>
              <a:t>910M€</a:t>
            </a:r>
            <a:endParaRPr lang="en-US" sz="900" dirty="0"/>
          </a:p>
        </p:txBody>
      </p:sp>
      <p:sp>
        <p:nvSpPr>
          <p:cNvPr id="41" name="Shape 38"/>
          <p:cNvSpPr/>
          <p:nvPr/>
        </p:nvSpPr>
        <p:spPr>
          <a:xfrm>
            <a:off x="4681728" y="2706624"/>
            <a:ext cx="1554480" cy="201168"/>
          </a:xfrm>
          <a:prstGeom prst="rect">
            <a:avLst/>
          </a:prstGeom>
          <a:solidFill>
            <a:srgbClr val="0D2030"/>
          </a:solidFill>
          <a:ln w="12700">
            <a:solidFill>
              <a:srgbClr val="0D2030"/>
            </a:solidFill>
            <a:prstDash val="solid"/>
          </a:ln>
        </p:spPr>
        <p:txBody>
          <a:bodyPr/>
          <a:lstStyle/>
          <a:p>
            <a:endParaRPr lang="es-ES"/>
          </a:p>
        </p:txBody>
      </p:sp>
      <p:sp>
        <p:nvSpPr>
          <p:cNvPr id="42" name="Shape 39"/>
          <p:cNvSpPr/>
          <p:nvPr/>
        </p:nvSpPr>
        <p:spPr>
          <a:xfrm>
            <a:off x="4681728" y="2706624"/>
            <a:ext cx="109728" cy="201168"/>
          </a:xfrm>
          <a:prstGeom prst="rect">
            <a:avLst/>
          </a:prstGeom>
          <a:solidFill>
            <a:srgbClr val="1A8A7A"/>
          </a:solidFill>
          <a:ln w="12700">
            <a:solidFill>
              <a:srgbClr val="1A8A7A"/>
            </a:solidFill>
            <a:prstDash val="solid"/>
          </a:ln>
        </p:spPr>
        <p:txBody>
          <a:bodyPr/>
          <a:lstStyle/>
          <a:p>
            <a:endParaRPr lang="es-ES"/>
          </a:p>
        </p:txBody>
      </p:sp>
      <p:sp>
        <p:nvSpPr>
          <p:cNvPr id="43" name="Text 40"/>
          <p:cNvSpPr/>
          <p:nvPr/>
        </p:nvSpPr>
        <p:spPr>
          <a:xfrm>
            <a:off x="6309360" y="2688336"/>
            <a:ext cx="502920" cy="237744"/>
          </a:xfrm>
          <a:prstGeom prst="rect">
            <a:avLst/>
          </a:prstGeom>
          <a:noFill/>
          <a:ln/>
        </p:spPr>
        <p:txBody>
          <a:bodyPr wrap="square" lIns="0" tIns="0" rIns="0" bIns="0" rtlCol="0" anchor="ctr"/>
          <a:lstStyle/>
          <a:p>
            <a:pPr marL="0" indent="0">
              <a:buNone/>
            </a:pPr>
            <a:r>
              <a:rPr lang="en-US" sz="900" b="1" dirty="0">
                <a:solidFill>
                  <a:srgbClr val="E2EAF2"/>
                </a:solidFill>
                <a:latin typeface="Trebuchet MS" pitchFamily="34" charset="0"/>
                <a:ea typeface="Trebuchet MS" pitchFamily="34" charset="-122"/>
                <a:cs typeface="Trebuchet MS" pitchFamily="34" charset="-120"/>
              </a:rPr>
              <a:t>182M€</a:t>
            </a:r>
            <a:endParaRPr lang="en-US" sz="900" dirty="0"/>
          </a:p>
        </p:txBody>
      </p:sp>
      <p:sp>
        <p:nvSpPr>
          <p:cNvPr id="44" name="Shape 41"/>
          <p:cNvSpPr/>
          <p:nvPr/>
        </p:nvSpPr>
        <p:spPr>
          <a:xfrm>
            <a:off x="6812280" y="2706624"/>
            <a:ext cx="1554480" cy="201168"/>
          </a:xfrm>
          <a:prstGeom prst="rect">
            <a:avLst/>
          </a:prstGeom>
          <a:solidFill>
            <a:srgbClr val="0D2030"/>
          </a:solidFill>
          <a:ln w="12700">
            <a:solidFill>
              <a:srgbClr val="0D2030"/>
            </a:solidFill>
            <a:prstDash val="solid"/>
          </a:ln>
        </p:spPr>
        <p:txBody>
          <a:bodyPr/>
          <a:lstStyle/>
          <a:p>
            <a:endParaRPr lang="es-ES"/>
          </a:p>
        </p:txBody>
      </p:sp>
      <p:sp>
        <p:nvSpPr>
          <p:cNvPr id="45" name="Shape 42"/>
          <p:cNvSpPr/>
          <p:nvPr/>
        </p:nvSpPr>
        <p:spPr>
          <a:xfrm>
            <a:off x="6812280" y="2706624"/>
            <a:ext cx="109728" cy="201168"/>
          </a:xfrm>
          <a:prstGeom prst="rect">
            <a:avLst/>
          </a:prstGeom>
          <a:solidFill>
            <a:srgbClr val="00B4A0"/>
          </a:solidFill>
          <a:ln w="12700">
            <a:solidFill>
              <a:srgbClr val="00B4A0"/>
            </a:solidFill>
            <a:prstDash val="solid"/>
          </a:ln>
        </p:spPr>
        <p:txBody>
          <a:bodyPr/>
          <a:lstStyle/>
          <a:p>
            <a:endParaRPr lang="es-ES"/>
          </a:p>
        </p:txBody>
      </p:sp>
      <p:sp>
        <p:nvSpPr>
          <p:cNvPr id="46" name="Text 43"/>
          <p:cNvSpPr/>
          <p:nvPr/>
        </p:nvSpPr>
        <p:spPr>
          <a:xfrm>
            <a:off x="8439912" y="2688336"/>
            <a:ext cx="502920" cy="237744"/>
          </a:xfrm>
          <a:prstGeom prst="rect">
            <a:avLst/>
          </a:prstGeom>
          <a:noFill/>
          <a:ln/>
        </p:spPr>
        <p:txBody>
          <a:bodyPr wrap="square" lIns="0" tIns="0" rIns="0" bIns="0" rtlCol="0" anchor="ctr"/>
          <a:lstStyle/>
          <a:p>
            <a:pPr marL="0" indent="0">
              <a:buNone/>
            </a:pPr>
            <a:r>
              <a:rPr lang="en-US" sz="900" b="1" dirty="0">
                <a:solidFill>
                  <a:srgbClr val="00B4A0"/>
                </a:solidFill>
                <a:latin typeface="Trebuchet MS" pitchFamily="34" charset="0"/>
                <a:ea typeface="Trebuchet MS" pitchFamily="34" charset="-122"/>
                <a:cs typeface="Trebuchet MS" pitchFamily="34" charset="-120"/>
              </a:rPr>
              <a:t>27M€</a:t>
            </a:r>
            <a:endParaRPr lang="en-US" sz="900" dirty="0"/>
          </a:p>
        </p:txBody>
      </p:sp>
      <p:sp>
        <p:nvSpPr>
          <p:cNvPr id="47" name="Text 44"/>
          <p:cNvSpPr/>
          <p:nvPr/>
        </p:nvSpPr>
        <p:spPr>
          <a:xfrm>
            <a:off x="502920" y="3191256"/>
            <a:ext cx="1828800" cy="274320"/>
          </a:xfrm>
          <a:prstGeom prst="rect">
            <a:avLst/>
          </a:prstGeom>
          <a:noFill/>
          <a:ln/>
        </p:spPr>
        <p:txBody>
          <a:bodyPr wrap="square" lIns="0" tIns="0" rIns="0" bIns="0" rtlCol="0" anchor="ctr"/>
          <a:lstStyle/>
          <a:p>
            <a:pPr marL="0" indent="0">
              <a:buNone/>
            </a:pPr>
            <a:r>
              <a:rPr lang="en-US" sz="1000" b="1" dirty="0">
                <a:solidFill>
                  <a:srgbClr val="E2EAF2"/>
                </a:solidFill>
                <a:latin typeface="Calibri" pitchFamily="34" charset="0"/>
                <a:ea typeface="Calibri" pitchFamily="34" charset="-122"/>
                <a:cs typeface="Calibri" pitchFamily="34" charset="-120"/>
              </a:rPr>
              <a:t>Seguro (bróker)</a:t>
            </a:r>
            <a:endParaRPr lang="en-US" sz="1000" dirty="0"/>
          </a:p>
        </p:txBody>
      </p:sp>
      <p:sp>
        <p:nvSpPr>
          <p:cNvPr id="48" name="Shape 45"/>
          <p:cNvSpPr/>
          <p:nvPr/>
        </p:nvSpPr>
        <p:spPr>
          <a:xfrm>
            <a:off x="2423160" y="3227832"/>
            <a:ext cx="1554480" cy="201168"/>
          </a:xfrm>
          <a:prstGeom prst="rect">
            <a:avLst/>
          </a:prstGeom>
          <a:solidFill>
            <a:srgbClr val="0D2030"/>
          </a:solidFill>
          <a:ln w="12700">
            <a:solidFill>
              <a:srgbClr val="0D2030"/>
            </a:solidFill>
            <a:prstDash val="solid"/>
          </a:ln>
        </p:spPr>
        <p:txBody>
          <a:bodyPr/>
          <a:lstStyle/>
          <a:p>
            <a:endParaRPr lang="es-ES"/>
          </a:p>
        </p:txBody>
      </p:sp>
      <p:sp>
        <p:nvSpPr>
          <p:cNvPr id="49" name="Shape 46"/>
          <p:cNvSpPr/>
          <p:nvPr/>
        </p:nvSpPr>
        <p:spPr>
          <a:xfrm>
            <a:off x="2423160" y="3227832"/>
            <a:ext cx="804999" cy="201168"/>
          </a:xfrm>
          <a:prstGeom prst="rect">
            <a:avLst/>
          </a:prstGeom>
          <a:solidFill>
            <a:srgbClr val="3A5F7A"/>
          </a:solidFill>
          <a:ln w="12700">
            <a:solidFill>
              <a:srgbClr val="3A5F7A"/>
            </a:solidFill>
            <a:prstDash val="solid"/>
          </a:ln>
        </p:spPr>
        <p:txBody>
          <a:bodyPr/>
          <a:lstStyle/>
          <a:p>
            <a:endParaRPr lang="es-ES"/>
          </a:p>
        </p:txBody>
      </p:sp>
      <p:sp>
        <p:nvSpPr>
          <p:cNvPr id="50" name="Text 47"/>
          <p:cNvSpPr/>
          <p:nvPr/>
        </p:nvSpPr>
        <p:spPr>
          <a:xfrm>
            <a:off x="4050792" y="3209544"/>
            <a:ext cx="502920" cy="237744"/>
          </a:xfrm>
          <a:prstGeom prst="rect">
            <a:avLst/>
          </a:prstGeom>
          <a:noFill/>
          <a:ln/>
        </p:spPr>
        <p:txBody>
          <a:bodyPr wrap="square" lIns="0" tIns="0" rIns="0" bIns="0" rtlCol="0" anchor="ctr"/>
          <a:lstStyle/>
          <a:p>
            <a:pPr marL="0" indent="0">
              <a:buNone/>
            </a:pPr>
            <a:r>
              <a:rPr lang="en-US" sz="900" b="1" dirty="0">
                <a:solidFill>
                  <a:srgbClr val="E2EAF2"/>
                </a:solidFill>
                <a:latin typeface="Trebuchet MS" pitchFamily="34" charset="0"/>
                <a:ea typeface="Trebuchet MS" pitchFamily="34" charset="-122"/>
                <a:cs typeface="Trebuchet MS" pitchFamily="34" charset="-120"/>
              </a:rPr>
              <a:t>1.4B€</a:t>
            </a:r>
            <a:endParaRPr lang="en-US" sz="900" dirty="0"/>
          </a:p>
        </p:txBody>
      </p:sp>
      <p:sp>
        <p:nvSpPr>
          <p:cNvPr id="51" name="Shape 48"/>
          <p:cNvSpPr/>
          <p:nvPr/>
        </p:nvSpPr>
        <p:spPr>
          <a:xfrm>
            <a:off x="4681728" y="3227832"/>
            <a:ext cx="1554480" cy="201168"/>
          </a:xfrm>
          <a:prstGeom prst="rect">
            <a:avLst/>
          </a:prstGeom>
          <a:solidFill>
            <a:srgbClr val="0D2030"/>
          </a:solidFill>
          <a:ln w="12700">
            <a:solidFill>
              <a:srgbClr val="0D2030"/>
            </a:solidFill>
            <a:prstDash val="solid"/>
          </a:ln>
        </p:spPr>
        <p:txBody>
          <a:bodyPr/>
          <a:lstStyle/>
          <a:p>
            <a:endParaRPr lang="es-ES"/>
          </a:p>
        </p:txBody>
      </p:sp>
      <p:sp>
        <p:nvSpPr>
          <p:cNvPr id="52" name="Shape 49"/>
          <p:cNvSpPr/>
          <p:nvPr/>
        </p:nvSpPr>
        <p:spPr>
          <a:xfrm>
            <a:off x="4681728" y="3227832"/>
            <a:ext cx="121027" cy="201168"/>
          </a:xfrm>
          <a:prstGeom prst="rect">
            <a:avLst/>
          </a:prstGeom>
          <a:solidFill>
            <a:srgbClr val="1A8A7A"/>
          </a:solidFill>
          <a:ln w="12700">
            <a:solidFill>
              <a:srgbClr val="1A8A7A"/>
            </a:solidFill>
            <a:prstDash val="solid"/>
          </a:ln>
        </p:spPr>
        <p:txBody>
          <a:bodyPr/>
          <a:lstStyle/>
          <a:p>
            <a:endParaRPr lang="es-ES"/>
          </a:p>
        </p:txBody>
      </p:sp>
      <p:sp>
        <p:nvSpPr>
          <p:cNvPr id="53" name="Text 50"/>
          <p:cNvSpPr/>
          <p:nvPr/>
        </p:nvSpPr>
        <p:spPr>
          <a:xfrm>
            <a:off x="6309360" y="3209544"/>
            <a:ext cx="502920" cy="237744"/>
          </a:xfrm>
          <a:prstGeom prst="rect">
            <a:avLst/>
          </a:prstGeom>
          <a:noFill/>
          <a:ln/>
        </p:spPr>
        <p:txBody>
          <a:bodyPr wrap="square" lIns="0" tIns="0" rIns="0" bIns="0" rtlCol="0" anchor="ctr"/>
          <a:lstStyle/>
          <a:p>
            <a:pPr marL="0" indent="0">
              <a:buNone/>
            </a:pPr>
            <a:r>
              <a:rPr lang="en-US" sz="900" b="1" dirty="0">
                <a:solidFill>
                  <a:srgbClr val="E2EAF2"/>
                </a:solidFill>
                <a:latin typeface="Trebuchet MS" pitchFamily="34" charset="0"/>
                <a:ea typeface="Trebuchet MS" pitchFamily="34" charset="-122"/>
                <a:cs typeface="Trebuchet MS" pitchFamily="34" charset="-120"/>
              </a:rPr>
              <a:t>218M€</a:t>
            </a:r>
            <a:endParaRPr lang="en-US" sz="900" dirty="0"/>
          </a:p>
        </p:txBody>
      </p:sp>
      <p:sp>
        <p:nvSpPr>
          <p:cNvPr id="54" name="Shape 51"/>
          <p:cNvSpPr/>
          <p:nvPr/>
        </p:nvSpPr>
        <p:spPr>
          <a:xfrm>
            <a:off x="6812280" y="3227832"/>
            <a:ext cx="1554480" cy="201168"/>
          </a:xfrm>
          <a:prstGeom prst="rect">
            <a:avLst/>
          </a:prstGeom>
          <a:solidFill>
            <a:srgbClr val="0D2030"/>
          </a:solidFill>
          <a:ln w="12700">
            <a:solidFill>
              <a:srgbClr val="0D2030"/>
            </a:solidFill>
            <a:prstDash val="solid"/>
          </a:ln>
        </p:spPr>
        <p:txBody>
          <a:bodyPr/>
          <a:lstStyle/>
          <a:p>
            <a:endParaRPr lang="es-ES"/>
          </a:p>
        </p:txBody>
      </p:sp>
      <p:sp>
        <p:nvSpPr>
          <p:cNvPr id="55" name="Shape 52"/>
          <p:cNvSpPr/>
          <p:nvPr/>
        </p:nvSpPr>
        <p:spPr>
          <a:xfrm>
            <a:off x="6812280" y="3227832"/>
            <a:ext cx="109728" cy="201168"/>
          </a:xfrm>
          <a:prstGeom prst="rect">
            <a:avLst/>
          </a:prstGeom>
          <a:solidFill>
            <a:srgbClr val="00B4A0"/>
          </a:solidFill>
          <a:ln w="12700">
            <a:solidFill>
              <a:srgbClr val="00B4A0"/>
            </a:solidFill>
            <a:prstDash val="solid"/>
          </a:ln>
        </p:spPr>
        <p:txBody>
          <a:bodyPr/>
          <a:lstStyle/>
          <a:p>
            <a:endParaRPr lang="es-ES"/>
          </a:p>
        </p:txBody>
      </p:sp>
      <p:sp>
        <p:nvSpPr>
          <p:cNvPr id="56" name="Text 53"/>
          <p:cNvSpPr/>
          <p:nvPr/>
        </p:nvSpPr>
        <p:spPr>
          <a:xfrm>
            <a:off x="8439912" y="3209544"/>
            <a:ext cx="502920" cy="237744"/>
          </a:xfrm>
          <a:prstGeom prst="rect">
            <a:avLst/>
          </a:prstGeom>
          <a:noFill/>
          <a:ln/>
        </p:spPr>
        <p:txBody>
          <a:bodyPr wrap="square" lIns="0" tIns="0" rIns="0" bIns="0" rtlCol="0" anchor="ctr"/>
          <a:lstStyle/>
          <a:p>
            <a:pPr marL="0" indent="0">
              <a:buNone/>
            </a:pPr>
            <a:r>
              <a:rPr lang="en-US" sz="900" b="1" dirty="0">
                <a:solidFill>
                  <a:srgbClr val="00B4A0"/>
                </a:solidFill>
                <a:latin typeface="Trebuchet MS" pitchFamily="34" charset="0"/>
                <a:ea typeface="Trebuchet MS" pitchFamily="34" charset="-122"/>
                <a:cs typeface="Trebuchet MS" pitchFamily="34" charset="-120"/>
              </a:rPr>
              <a:t>13M€</a:t>
            </a:r>
            <a:endParaRPr lang="en-US" sz="900" dirty="0"/>
          </a:p>
        </p:txBody>
      </p:sp>
      <p:sp>
        <p:nvSpPr>
          <p:cNvPr id="57" name="Shape 54"/>
          <p:cNvSpPr/>
          <p:nvPr/>
        </p:nvSpPr>
        <p:spPr>
          <a:xfrm>
            <a:off x="438912" y="3602736"/>
            <a:ext cx="8321040" cy="521208"/>
          </a:xfrm>
          <a:prstGeom prst="rect">
            <a:avLst/>
          </a:prstGeom>
          <a:solidFill>
            <a:srgbClr val="0A1520"/>
          </a:solidFill>
          <a:ln w="12700">
            <a:solidFill>
              <a:srgbClr val="0A1520"/>
            </a:solidFill>
            <a:prstDash val="solid"/>
          </a:ln>
        </p:spPr>
        <p:txBody>
          <a:bodyPr/>
          <a:lstStyle/>
          <a:p>
            <a:endParaRPr lang="es-ES"/>
          </a:p>
        </p:txBody>
      </p:sp>
      <p:sp>
        <p:nvSpPr>
          <p:cNvPr id="58" name="Text 55"/>
          <p:cNvSpPr/>
          <p:nvPr/>
        </p:nvSpPr>
        <p:spPr>
          <a:xfrm>
            <a:off x="502920" y="3712464"/>
            <a:ext cx="1828800" cy="274320"/>
          </a:xfrm>
          <a:prstGeom prst="rect">
            <a:avLst/>
          </a:prstGeom>
          <a:noFill/>
          <a:ln/>
        </p:spPr>
        <p:txBody>
          <a:bodyPr wrap="square" lIns="0" tIns="0" rIns="0" bIns="0" rtlCol="0" anchor="ctr"/>
          <a:lstStyle/>
          <a:p>
            <a:pPr marL="0" indent="0">
              <a:buNone/>
            </a:pPr>
            <a:r>
              <a:rPr lang="en-US" sz="1000" b="1" dirty="0">
                <a:solidFill>
                  <a:srgbClr val="E2EAF2"/>
                </a:solidFill>
                <a:latin typeface="Calibri" pitchFamily="34" charset="0"/>
                <a:ea typeface="Calibri" pitchFamily="34" charset="-122"/>
                <a:cs typeface="Calibri" pitchFamily="34" charset="-120"/>
              </a:rPr>
              <a:t>Venta · certificación</a:t>
            </a:r>
            <a:endParaRPr lang="en-US" sz="1000" dirty="0"/>
          </a:p>
        </p:txBody>
      </p:sp>
      <p:sp>
        <p:nvSpPr>
          <p:cNvPr id="59" name="Shape 56"/>
          <p:cNvSpPr/>
          <p:nvPr/>
        </p:nvSpPr>
        <p:spPr>
          <a:xfrm>
            <a:off x="2423160" y="3749040"/>
            <a:ext cx="1554480" cy="201168"/>
          </a:xfrm>
          <a:prstGeom prst="rect">
            <a:avLst/>
          </a:prstGeom>
          <a:solidFill>
            <a:srgbClr val="0D2030"/>
          </a:solidFill>
          <a:ln w="12700">
            <a:solidFill>
              <a:srgbClr val="0D2030"/>
            </a:solidFill>
            <a:prstDash val="solid"/>
          </a:ln>
        </p:spPr>
        <p:txBody>
          <a:bodyPr/>
          <a:lstStyle/>
          <a:p>
            <a:endParaRPr lang="es-ES"/>
          </a:p>
        </p:txBody>
      </p:sp>
      <p:sp>
        <p:nvSpPr>
          <p:cNvPr id="60" name="Shape 57"/>
          <p:cNvSpPr/>
          <p:nvPr/>
        </p:nvSpPr>
        <p:spPr>
          <a:xfrm>
            <a:off x="2423160" y="3749040"/>
            <a:ext cx="109728" cy="201168"/>
          </a:xfrm>
          <a:prstGeom prst="rect">
            <a:avLst/>
          </a:prstGeom>
          <a:solidFill>
            <a:srgbClr val="3A5F7A"/>
          </a:solidFill>
          <a:ln w="12700">
            <a:solidFill>
              <a:srgbClr val="3A5F7A"/>
            </a:solidFill>
            <a:prstDash val="solid"/>
          </a:ln>
        </p:spPr>
        <p:txBody>
          <a:bodyPr/>
          <a:lstStyle/>
          <a:p>
            <a:endParaRPr lang="es-ES"/>
          </a:p>
        </p:txBody>
      </p:sp>
      <p:sp>
        <p:nvSpPr>
          <p:cNvPr id="61" name="Text 58"/>
          <p:cNvSpPr/>
          <p:nvPr/>
        </p:nvSpPr>
        <p:spPr>
          <a:xfrm>
            <a:off x="4050792" y="3730752"/>
            <a:ext cx="502920" cy="237744"/>
          </a:xfrm>
          <a:prstGeom prst="rect">
            <a:avLst/>
          </a:prstGeom>
          <a:noFill/>
          <a:ln/>
        </p:spPr>
        <p:txBody>
          <a:bodyPr wrap="square" lIns="0" tIns="0" rIns="0" bIns="0" rtlCol="0" anchor="ctr"/>
          <a:lstStyle/>
          <a:p>
            <a:pPr marL="0" indent="0">
              <a:buNone/>
            </a:pPr>
            <a:r>
              <a:rPr lang="en-US" sz="900" b="1" dirty="0">
                <a:solidFill>
                  <a:srgbClr val="E2EAF2"/>
                </a:solidFill>
                <a:latin typeface="Trebuchet MS" pitchFamily="34" charset="0"/>
                <a:ea typeface="Trebuchet MS" pitchFamily="34" charset="-122"/>
                <a:cs typeface="Trebuchet MS" pitchFamily="34" charset="-120"/>
              </a:rPr>
              <a:t>180M€</a:t>
            </a:r>
            <a:endParaRPr lang="en-US" sz="900" dirty="0"/>
          </a:p>
        </p:txBody>
      </p:sp>
      <p:sp>
        <p:nvSpPr>
          <p:cNvPr id="62" name="Shape 59"/>
          <p:cNvSpPr/>
          <p:nvPr/>
        </p:nvSpPr>
        <p:spPr>
          <a:xfrm>
            <a:off x="4681728" y="3749040"/>
            <a:ext cx="1554480" cy="201168"/>
          </a:xfrm>
          <a:prstGeom prst="rect">
            <a:avLst/>
          </a:prstGeom>
          <a:solidFill>
            <a:srgbClr val="0D2030"/>
          </a:solidFill>
          <a:ln w="12700">
            <a:solidFill>
              <a:srgbClr val="0D2030"/>
            </a:solidFill>
            <a:prstDash val="solid"/>
          </a:ln>
        </p:spPr>
        <p:txBody>
          <a:bodyPr/>
          <a:lstStyle/>
          <a:p>
            <a:endParaRPr lang="es-ES"/>
          </a:p>
        </p:txBody>
      </p:sp>
      <p:sp>
        <p:nvSpPr>
          <p:cNvPr id="63" name="Shape 60"/>
          <p:cNvSpPr/>
          <p:nvPr/>
        </p:nvSpPr>
        <p:spPr>
          <a:xfrm>
            <a:off x="4681728" y="3749040"/>
            <a:ext cx="109728" cy="201168"/>
          </a:xfrm>
          <a:prstGeom prst="rect">
            <a:avLst/>
          </a:prstGeom>
          <a:solidFill>
            <a:srgbClr val="1A8A7A"/>
          </a:solidFill>
          <a:ln w="12700">
            <a:solidFill>
              <a:srgbClr val="1A8A7A"/>
            </a:solidFill>
            <a:prstDash val="solid"/>
          </a:ln>
        </p:spPr>
        <p:txBody>
          <a:bodyPr/>
          <a:lstStyle/>
          <a:p>
            <a:endParaRPr lang="es-ES"/>
          </a:p>
        </p:txBody>
      </p:sp>
      <p:sp>
        <p:nvSpPr>
          <p:cNvPr id="64" name="Text 61"/>
          <p:cNvSpPr/>
          <p:nvPr/>
        </p:nvSpPr>
        <p:spPr>
          <a:xfrm>
            <a:off x="6309360" y="3730752"/>
            <a:ext cx="502920" cy="237744"/>
          </a:xfrm>
          <a:prstGeom prst="rect">
            <a:avLst/>
          </a:prstGeom>
          <a:noFill/>
          <a:ln/>
        </p:spPr>
        <p:txBody>
          <a:bodyPr wrap="square" lIns="0" tIns="0" rIns="0" bIns="0" rtlCol="0" anchor="ctr"/>
          <a:lstStyle/>
          <a:p>
            <a:pPr marL="0" indent="0">
              <a:buNone/>
            </a:pPr>
            <a:r>
              <a:rPr lang="en-US" sz="900" b="1" dirty="0">
                <a:solidFill>
                  <a:srgbClr val="E2EAF2"/>
                </a:solidFill>
                <a:latin typeface="Trebuchet MS" pitchFamily="34" charset="0"/>
                <a:ea typeface="Trebuchet MS" pitchFamily="34" charset="-122"/>
                <a:cs typeface="Trebuchet MS" pitchFamily="34" charset="-120"/>
              </a:rPr>
              <a:t>72M€</a:t>
            </a:r>
            <a:endParaRPr lang="en-US" sz="900" dirty="0"/>
          </a:p>
        </p:txBody>
      </p:sp>
      <p:sp>
        <p:nvSpPr>
          <p:cNvPr id="65" name="Shape 62"/>
          <p:cNvSpPr/>
          <p:nvPr/>
        </p:nvSpPr>
        <p:spPr>
          <a:xfrm>
            <a:off x="6812280" y="3749040"/>
            <a:ext cx="1554480" cy="201168"/>
          </a:xfrm>
          <a:prstGeom prst="rect">
            <a:avLst/>
          </a:prstGeom>
          <a:solidFill>
            <a:srgbClr val="0D2030"/>
          </a:solidFill>
          <a:ln w="12700">
            <a:solidFill>
              <a:srgbClr val="0D2030"/>
            </a:solidFill>
            <a:prstDash val="solid"/>
          </a:ln>
        </p:spPr>
        <p:txBody>
          <a:bodyPr/>
          <a:lstStyle/>
          <a:p>
            <a:endParaRPr lang="es-ES"/>
          </a:p>
        </p:txBody>
      </p:sp>
      <p:sp>
        <p:nvSpPr>
          <p:cNvPr id="66" name="Shape 63"/>
          <p:cNvSpPr/>
          <p:nvPr/>
        </p:nvSpPr>
        <p:spPr>
          <a:xfrm>
            <a:off x="6812280" y="3749040"/>
            <a:ext cx="109728" cy="201168"/>
          </a:xfrm>
          <a:prstGeom prst="rect">
            <a:avLst/>
          </a:prstGeom>
          <a:solidFill>
            <a:srgbClr val="00B4A0"/>
          </a:solidFill>
          <a:ln w="12700">
            <a:solidFill>
              <a:srgbClr val="00B4A0"/>
            </a:solidFill>
            <a:prstDash val="solid"/>
          </a:ln>
        </p:spPr>
        <p:txBody>
          <a:bodyPr/>
          <a:lstStyle/>
          <a:p>
            <a:endParaRPr lang="es-ES"/>
          </a:p>
        </p:txBody>
      </p:sp>
      <p:sp>
        <p:nvSpPr>
          <p:cNvPr id="67" name="Text 64"/>
          <p:cNvSpPr/>
          <p:nvPr/>
        </p:nvSpPr>
        <p:spPr>
          <a:xfrm>
            <a:off x="8439912" y="3730752"/>
            <a:ext cx="502920" cy="237744"/>
          </a:xfrm>
          <a:prstGeom prst="rect">
            <a:avLst/>
          </a:prstGeom>
          <a:noFill/>
          <a:ln/>
        </p:spPr>
        <p:txBody>
          <a:bodyPr wrap="square" lIns="0" tIns="0" rIns="0" bIns="0" rtlCol="0" anchor="ctr"/>
          <a:lstStyle/>
          <a:p>
            <a:pPr marL="0" indent="0">
              <a:buNone/>
            </a:pPr>
            <a:r>
              <a:rPr lang="en-US" sz="900" b="1" dirty="0">
                <a:solidFill>
                  <a:srgbClr val="00B4A0"/>
                </a:solidFill>
                <a:latin typeface="Trebuchet MS" pitchFamily="34" charset="0"/>
                <a:ea typeface="Trebuchet MS" pitchFamily="34" charset="-122"/>
                <a:cs typeface="Trebuchet MS" pitchFamily="34" charset="-120"/>
              </a:rPr>
              <a:t>5M€</a:t>
            </a:r>
            <a:endParaRPr lang="en-US" sz="900" dirty="0"/>
          </a:p>
        </p:txBody>
      </p:sp>
      <p:sp>
        <p:nvSpPr>
          <p:cNvPr id="68" name="Text 65"/>
          <p:cNvSpPr/>
          <p:nvPr/>
        </p:nvSpPr>
        <p:spPr>
          <a:xfrm>
            <a:off x="502920" y="4233672"/>
            <a:ext cx="1828800" cy="274320"/>
          </a:xfrm>
          <a:prstGeom prst="rect">
            <a:avLst/>
          </a:prstGeom>
          <a:noFill/>
          <a:ln/>
        </p:spPr>
        <p:txBody>
          <a:bodyPr wrap="square" lIns="0" tIns="0" rIns="0" bIns="0" rtlCol="0" anchor="ctr"/>
          <a:lstStyle/>
          <a:p>
            <a:pPr marL="0" indent="0">
              <a:buNone/>
            </a:pPr>
            <a:r>
              <a:rPr lang="en-US" sz="1000" b="1" dirty="0">
                <a:solidFill>
                  <a:srgbClr val="E2EAF2"/>
                </a:solidFill>
                <a:latin typeface="Calibri" pitchFamily="34" charset="0"/>
                <a:ea typeface="Calibri" pitchFamily="34" charset="-122"/>
                <a:cs typeface="Calibri" pitchFamily="34" charset="-120"/>
              </a:rPr>
              <a:t>Financiación</a:t>
            </a:r>
            <a:endParaRPr lang="en-US" sz="1000" dirty="0"/>
          </a:p>
        </p:txBody>
      </p:sp>
      <p:sp>
        <p:nvSpPr>
          <p:cNvPr id="69" name="Shape 66"/>
          <p:cNvSpPr/>
          <p:nvPr/>
        </p:nvSpPr>
        <p:spPr>
          <a:xfrm>
            <a:off x="2423160" y="4270248"/>
            <a:ext cx="1554480" cy="201168"/>
          </a:xfrm>
          <a:prstGeom prst="rect">
            <a:avLst/>
          </a:prstGeom>
          <a:solidFill>
            <a:srgbClr val="0D2030"/>
          </a:solidFill>
          <a:ln w="12700">
            <a:solidFill>
              <a:srgbClr val="0D2030"/>
            </a:solidFill>
            <a:prstDash val="solid"/>
          </a:ln>
        </p:spPr>
        <p:txBody>
          <a:bodyPr/>
          <a:lstStyle/>
          <a:p>
            <a:endParaRPr lang="es-ES"/>
          </a:p>
        </p:txBody>
      </p:sp>
      <p:sp>
        <p:nvSpPr>
          <p:cNvPr id="70" name="Shape 67"/>
          <p:cNvSpPr/>
          <p:nvPr/>
        </p:nvSpPr>
        <p:spPr>
          <a:xfrm>
            <a:off x="2423160" y="4270248"/>
            <a:ext cx="1554480" cy="201168"/>
          </a:xfrm>
          <a:prstGeom prst="rect">
            <a:avLst/>
          </a:prstGeom>
          <a:solidFill>
            <a:srgbClr val="3A5F7A"/>
          </a:solidFill>
          <a:ln w="12700">
            <a:solidFill>
              <a:srgbClr val="3A5F7A"/>
            </a:solidFill>
            <a:prstDash val="solid"/>
          </a:ln>
        </p:spPr>
        <p:txBody>
          <a:bodyPr/>
          <a:lstStyle/>
          <a:p>
            <a:endParaRPr lang="es-ES"/>
          </a:p>
        </p:txBody>
      </p:sp>
      <p:sp>
        <p:nvSpPr>
          <p:cNvPr id="71" name="Text 68"/>
          <p:cNvSpPr/>
          <p:nvPr/>
        </p:nvSpPr>
        <p:spPr>
          <a:xfrm>
            <a:off x="4050792" y="4251960"/>
            <a:ext cx="502920" cy="237744"/>
          </a:xfrm>
          <a:prstGeom prst="rect">
            <a:avLst/>
          </a:prstGeom>
          <a:noFill/>
          <a:ln/>
        </p:spPr>
        <p:txBody>
          <a:bodyPr wrap="square" lIns="0" tIns="0" rIns="0" bIns="0" rtlCol="0" anchor="ctr"/>
          <a:lstStyle/>
          <a:p>
            <a:pPr marL="0" indent="0">
              <a:buNone/>
            </a:pPr>
            <a:r>
              <a:rPr lang="en-US" sz="900" b="1" dirty="0">
                <a:solidFill>
                  <a:srgbClr val="E2EAF2"/>
                </a:solidFill>
                <a:latin typeface="Trebuchet MS" pitchFamily="34" charset="0"/>
                <a:ea typeface="Trebuchet MS" pitchFamily="34" charset="-122"/>
                <a:cs typeface="Trebuchet MS" pitchFamily="34" charset="-120"/>
              </a:rPr>
              <a:t>2.8B€</a:t>
            </a:r>
            <a:endParaRPr lang="en-US" sz="900" dirty="0"/>
          </a:p>
        </p:txBody>
      </p:sp>
      <p:sp>
        <p:nvSpPr>
          <p:cNvPr id="72" name="Shape 69"/>
          <p:cNvSpPr/>
          <p:nvPr/>
        </p:nvSpPr>
        <p:spPr>
          <a:xfrm>
            <a:off x="4681728" y="4270248"/>
            <a:ext cx="1554480" cy="201168"/>
          </a:xfrm>
          <a:prstGeom prst="rect">
            <a:avLst/>
          </a:prstGeom>
          <a:solidFill>
            <a:srgbClr val="0D2030"/>
          </a:solidFill>
          <a:ln w="12700">
            <a:solidFill>
              <a:srgbClr val="0D2030"/>
            </a:solidFill>
            <a:prstDash val="solid"/>
          </a:ln>
        </p:spPr>
        <p:txBody>
          <a:bodyPr/>
          <a:lstStyle/>
          <a:p>
            <a:endParaRPr lang="es-ES"/>
          </a:p>
        </p:txBody>
      </p:sp>
      <p:sp>
        <p:nvSpPr>
          <p:cNvPr id="73" name="Shape 70"/>
          <p:cNvSpPr/>
          <p:nvPr/>
        </p:nvSpPr>
        <p:spPr>
          <a:xfrm>
            <a:off x="4681728" y="4270248"/>
            <a:ext cx="233172" cy="201168"/>
          </a:xfrm>
          <a:prstGeom prst="rect">
            <a:avLst/>
          </a:prstGeom>
          <a:solidFill>
            <a:srgbClr val="1A8A7A"/>
          </a:solidFill>
          <a:ln w="12700">
            <a:solidFill>
              <a:srgbClr val="1A8A7A"/>
            </a:solidFill>
            <a:prstDash val="solid"/>
          </a:ln>
        </p:spPr>
        <p:txBody>
          <a:bodyPr/>
          <a:lstStyle/>
          <a:p>
            <a:endParaRPr lang="es-ES"/>
          </a:p>
        </p:txBody>
      </p:sp>
      <p:sp>
        <p:nvSpPr>
          <p:cNvPr id="74" name="Text 71"/>
          <p:cNvSpPr/>
          <p:nvPr/>
        </p:nvSpPr>
        <p:spPr>
          <a:xfrm>
            <a:off x="6309360" y="4251960"/>
            <a:ext cx="502920" cy="237744"/>
          </a:xfrm>
          <a:prstGeom prst="rect">
            <a:avLst/>
          </a:prstGeom>
          <a:noFill/>
          <a:ln/>
        </p:spPr>
        <p:txBody>
          <a:bodyPr wrap="square" lIns="0" tIns="0" rIns="0" bIns="0" rtlCol="0" anchor="ctr"/>
          <a:lstStyle/>
          <a:p>
            <a:pPr marL="0" indent="0">
              <a:buNone/>
            </a:pPr>
            <a:r>
              <a:rPr lang="en-US" sz="900" b="1" dirty="0">
                <a:solidFill>
                  <a:srgbClr val="E2EAF2"/>
                </a:solidFill>
                <a:latin typeface="Trebuchet MS" pitchFamily="34" charset="0"/>
                <a:ea typeface="Trebuchet MS" pitchFamily="34" charset="-122"/>
                <a:cs typeface="Trebuchet MS" pitchFamily="34" charset="-120"/>
              </a:rPr>
              <a:t>420M€</a:t>
            </a:r>
            <a:endParaRPr lang="en-US" sz="900" dirty="0"/>
          </a:p>
        </p:txBody>
      </p:sp>
      <p:sp>
        <p:nvSpPr>
          <p:cNvPr id="75" name="Shape 72"/>
          <p:cNvSpPr/>
          <p:nvPr/>
        </p:nvSpPr>
        <p:spPr>
          <a:xfrm>
            <a:off x="6812280" y="4270248"/>
            <a:ext cx="1554480" cy="201168"/>
          </a:xfrm>
          <a:prstGeom prst="rect">
            <a:avLst/>
          </a:prstGeom>
          <a:solidFill>
            <a:srgbClr val="0D2030"/>
          </a:solidFill>
          <a:ln w="12700">
            <a:solidFill>
              <a:srgbClr val="0D2030"/>
            </a:solidFill>
            <a:prstDash val="solid"/>
          </a:ln>
        </p:spPr>
        <p:txBody>
          <a:bodyPr/>
          <a:lstStyle/>
          <a:p>
            <a:endParaRPr lang="es-ES"/>
          </a:p>
        </p:txBody>
      </p:sp>
      <p:sp>
        <p:nvSpPr>
          <p:cNvPr id="76" name="Shape 73"/>
          <p:cNvSpPr/>
          <p:nvPr/>
        </p:nvSpPr>
        <p:spPr>
          <a:xfrm>
            <a:off x="6812280" y="4270248"/>
            <a:ext cx="109728" cy="201168"/>
          </a:xfrm>
          <a:prstGeom prst="rect">
            <a:avLst/>
          </a:prstGeom>
          <a:solidFill>
            <a:srgbClr val="00B4A0"/>
          </a:solidFill>
          <a:ln w="12700">
            <a:solidFill>
              <a:srgbClr val="00B4A0"/>
            </a:solidFill>
            <a:prstDash val="solid"/>
          </a:ln>
        </p:spPr>
        <p:txBody>
          <a:bodyPr/>
          <a:lstStyle/>
          <a:p>
            <a:endParaRPr lang="es-ES"/>
          </a:p>
        </p:txBody>
      </p:sp>
      <p:sp>
        <p:nvSpPr>
          <p:cNvPr id="77" name="Text 74"/>
          <p:cNvSpPr/>
          <p:nvPr/>
        </p:nvSpPr>
        <p:spPr>
          <a:xfrm>
            <a:off x="8439912" y="4251960"/>
            <a:ext cx="502920" cy="237744"/>
          </a:xfrm>
          <a:prstGeom prst="rect">
            <a:avLst/>
          </a:prstGeom>
          <a:noFill/>
          <a:ln/>
        </p:spPr>
        <p:txBody>
          <a:bodyPr wrap="square" lIns="0" tIns="0" rIns="0" bIns="0" rtlCol="0" anchor="ctr"/>
          <a:lstStyle/>
          <a:p>
            <a:pPr marL="0" indent="0">
              <a:buNone/>
            </a:pPr>
            <a:r>
              <a:rPr lang="en-US" sz="900" b="1" dirty="0">
                <a:solidFill>
                  <a:srgbClr val="00B4A0"/>
                </a:solidFill>
                <a:latin typeface="Trebuchet MS" pitchFamily="34" charset="0"/>
                <a:ea typeface="Trebuchet MS" pitchFamily="34" charset="-122"/>
                <a:cs typeface="Trebuchet MS" pitchFamily="34" charset="-120"/>
              </a:rPr>
              <a:t>28M€</a:t>
            </a:r>
            <a:endParaRPr lang="en-US" sz="900" dirty="0"/>
          </a:p>
        </p:txBody>
      </p:sp>
      <p:sp>
        <p:nvSpPr>
          <p:cNvPr id="78" name="Shape 75"/>
          <p:cNvSpPr/>
          <p:nvPr/>
        </p:nvSpPr>
        <p:spPr>
          <a:xfrm>
            <a:off x="457200" y="4617720"/>
            <a:ext cx="8229600" cy="22860"/>
          </a:xfrm>
          <a:prstGeom prst="rect">
            <a:avLst/>
          </a:prstGeom>
          <a:solidFill>
            <a:srgbClr val="00B4A0"/>
          </a:solidFill>
          <a:ln w="12700">
            <a:solidFill>
              <a:srgbClr val="00B4A0"/>
            </a:solidFill>
            <a:prstDash val="solid"/>
          </a:ln>
        </p:spPr>
        <p:txBody>
          <a:bodyPr/>
          <a:lstStyle/>
          <a:p>
            <a:endParaRPr lang="es-ES"/>
          </a:p>
        </p:txBody>
      </p:sp>
      <p:sp>
        <p:nvSpPr>
          <p:cNvPr id="79" name="Text 76"/>
          <p:cNvSpPr/>
          <p:nvPr/>
        </p:nvSpPr>
        <p:spPr>
          <a:xfrm>
            <a:off x="502920" y="4709160"/>
            <a:ext cx="5029200" cy="320040"/>
          </a:xfrm>
          <a:prstGeom prst="rect">
            <a:avLst/>
          </a:prstGeom>
          <a:noFill/>
          <a:ln/>
        </p:spPr>
        <p:txBody>
          <a:bodyPr wrap="square" lIns="0" tIns="0" rIns="0" bIns="0" rtlCol="0" anchor="ctr"/>
          <a:lstStyle/>
          <a:p>
            <a:pPr marL="0" indent="0">
              <a:buNone/>
            </a:pPr>
            <a:r>
              <a:rPr lang="en-US" sz="1100" dirty="0">
                <a:solidFill>
                  <a:srgbClr val="8BA4BC"/>
                </a:solidFill>
                <a:latin typeface="Calibri" pitchFamily="34" charset="0"/>
                <a:ea typeface="Calibri" pitchFamily="34" charset="-122"/>
                <a:cs typeface="Calibri" pitchFamily="34" charset="-120"/>
              </a:rPr>
              <a:t>SOM total · año 3–5 en régimen estacionario</a:t>
            </a:r>
            <a:endParaRPr lang="en-US" sz="1100" dirty="0"/>
          </a:p>
        </p:txBody>
      </p:sp>
      <p:sp>
        <p:nvSpPr>
          <p:cNvPr id="80" name="Text 77"/>
          <p:cNvSpPr/>
          <p:nvPr/>
        </p:nvSpPr>
        <p:spPr>
          <a:xfrm>
            <a:off x="5577840" y="4645152"/>
            <a:ext cx="3108960" cy="438912"/>
          </a:xfrm>
          <a:prstGeom prst="rect">
            <a:avLst/>
          </a:prstGeom>
          <a:noFill/>
          <a:ln/>
        </p:spPr>
        <p:txBody>
          <a:bodyPr wrap="square" lIns="0" tIns="0" rIns="0" bIns="0" rtlCol="0" anchor="ctr"/>
          <a:lstStyle/>
          <a:p>
            <a:pPr marL="0" indent="0" algn="r">
              <a:buNone/>
            </a:pPr>
            <a:r>
              <a:rPr lang="en-US" sz="2600" b="1" dirty="0">
                <a:solidFill>
                  <a:srgbClr val="00B4A0"/>
                </a:solidFill>
                <a:latin typeface="Trebuchet MS" pitchFamily="34" charset="0"/>
                <a:ea typeface="Trebuchet MS" pitchFamily="34" charset="-122"/>
                <a:cs typeface="Trebuchet MS" pitchFamily="34" charset="-120"/>
              </a:rPr>
              <a:t>~174 M€/año</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4" name="Text 1"/>
          <p:cNvSpPr/>
          <p:nvPr/>
        </p:nvSpPr>
        <p:spPr>
          <a:xfrm>
            <a:off x="457200" y="256032"/>
            <a:ext cx="4572000" cy="201168"/>
          </a:xfrm>
          <a:prstGeom prst="rect">
            <a:avLst/>
          </a:prstGeom>
          <a:noFill/>
          <a:ln/>
        </p:spPr>
        <p:txBody>
          <a:bodyPr wrap="square" lIns="0" tIns="0" rIns="0" bIns="0" rtlCol="0" anchor="ctr"/>
          <a:lstStyle/>
          <a:p>
            <a:pPr marL="0" indent="0">
              <a:buNone/>
            </a:pPr>
            <a:r>
              <a:rPr lang="en-US" sz="800" b="1" kern="0" spc="300" dirty="0">
                <a:solidFill>
                  <a:srgbClr val="00B4A0"/>
                </a:solidFill>
                <a:latin typeface="Calibri" pitchFamily="34" charset="0"/>
                <a:ea typeface="Calibri" pitchFamily="34" charset="-122"/>
                <a:cs typeface="Calibri" pitchFamily="34" charset="-120"/>
              </a:rPr>
              <a:t>VENTAJA COMPETITIVA Y EQUIPO</a:t>
            </a:r>
            <a:endParaRPr lang="en-US" sz="800" dirty="0"/>
          </a:p>
        </p:txBody>
      </p:sp>
      <p:sp>
        <p:nvSpPr>
          <p:cNvPr id="5" name="Text 2"/>
          <p:cNvSpPr/>
          <p:nvPr/>
        </p:nvSpPr>
        <p:spPr>
          <a:xfrm>
            <a:off x="457200" y="475488"/>
            <a:ext cx="8229600" cy="530352"/>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Por qué nosotros, por qué ahora</a:t>
            </a:r>
            <a:endParaRPr lang="en-US" sz="2400" dirty="0"/>
          </a:p>
        </p:txBody>
      </p:sp>
      <p:sp>
        <p:nvSpPr>
          <p:cNvPr id="6" name="Shape 3"/>
          <p:cNvSpPr/>
          <p:nvPr/>
        </p:nvSpPr>
        <p:spPr>
          <a:xfrm>
            <a:off x="457200" y="1170432"/>
            <a:ext cx="50292" cy="713232"/>
          </a:xfrm>
          <a:prstGeom prst="rect">
            <a:avLst/>
          </a:prstGeom>
          <a:solidFill>
            <a:srgbClr val="00B4A0"/>
          </a:solidFill>
          <a:ln w="12700">
            <a:solidFill>
              <a:srgbClr val="00B4A0"/>
            </a:solidFill>
            <a:prstDash val="solid"/>
          </a:ln>
        </p:spPr>
        <p:txBody>
          <a:bodyPr/>
          <a:lstStyle/>
          <a:p>
            <a:endParaRPr lang="es-ES"/>
          </a:p>
        </p:txBody>
      </p:sp>
      <p:sp>
        <p:nvSpPr>
          <p:cNvPr id="7" name="Text 4"/>
          <p:cNvSpPr/>
          <p:nvPr/>
        </p:nvSpPr>
        <p:spPr>
          <a:xfrm>
            <a:off x="658368" y="1170432"/>
            <a:ext cx="4434840" cy="256032"/>
          </a:xfrm>
          <a:prstGeom prst="rect">
            <a:avLst/>
          </a:prstGeom>
          <a:noFill/>
          <a:ln/>
        </p:spPr>
        <p:txBody>
          <a:bodyPr wrap="square" lIns="0" tIns="0" rIns="0" bIns="0" rtlCol="0" anchor="ctr"/>
          <a:lstStyle/>
          <a:p>
            <a:pPr marL="0" indent="0">
              <a:buNone/>
            </a:pPr>
            <a:r>
              <a:rPr lang="en-US" sz="1150" b="1" dirty="0">
                <a:solidFill>
                  <a:srgbClr val="FFFFFF"/>
                </a:solidFill>
                <a:latin typeface="Trebuchet MS" pitchFamily="34" charset="0"/>
                <a:ea typeface="Trebuchet MS" pitchFamily="34" charset="-122"/>
                <a:cs typeface="Trebuchet MS" pitchFamily="34" charset="-120"/>
              </a:rPr>
              <a:t>Tecnología In-House</a:t>
            </a:r>
            <a:endParaRPr lang="en-US" sz="1150" dirty="0"/>
          </a:p>
        </p:txBody>
      </p:sp>
      <p:sp>
        <p:nvSpPr>
          <p:cNvPr id="8" name="Text 5"/>
          <p:cNvSpPr/>
          <p:nvPr/>
        </p:nvSpPr>
        <p:spPr>
          <a:xfrm>
            <a:off x="658368" y="1444752"/>
            <a:ext cx="4434840" cy="438912"/>
          </a:xfrm>
          <a:prstGeom prst="rect">
            <a:avLst/>
          </a:prstGeom>
          <a:noFill/>
          <a:ln/>
        </p:spPr>
        <p:txBody>
          <a:bodyPr wrap="square" lIns="0" tIns="0" rIns="0" bIns="0" rtlCol="0" anchor="ctr"/>
          <a:lstStyle/>
          <a:p>
            <a:pPr marL="0" indent="0">
              <a:buNone/>
            </a:pPr>
            <a:r>
              <a:rPr lang="en-US" sz="950" dirty="0">
                <a:solidFill>
                  <a:srgbClr val="8BA4BC"/>
                </a:solidFill>
                <a:latin typeface="Calibri" pitchFamily="34" charset="0"/>
                <a:ea typeface="Calibri" pitchFamily="34" charset="-122"/>
                <a:cs typeface="Calibri" pitchFamily="34" charset="-120"/>
              </a:rPr>
              <a:t>Experiencia en la conceptualización y desarrollo integral de software (ERP, CRM, Scoring de clientes) en el sector de automoción (renting). No teoría — código probado en producción.</a:t>
            </a:r>
            <a:endParaRPr lang="en-US" sz="950" dirty="0"/>
          </a:p>
        </p:txBody>
      </p:sp>
      <p:sp>
        <p:nvSpPr>
          <p:cNvPr id="9" name="Shape 6"/>
          <p:cNvSpPr/>
          <p:nvPr/>
        </p:nvSpPr>
        <p:spPr>
          <a:xfrm>
            <a:off x="457200" y="2103120"/>
            <a:ext cx="50292" cy="713232"/>
          </a:xfrm>
          <a:prstGeom prst="rect">
            <a:avLst/>
          </a:prstGeom>
          <a:solidFill>
            <a:srgbClr val="00B4A0"/>
          </a:solidFill>
          <a:ln w="12700">
            <a:solidFill>
              <a:srgbClr val="00B4A0"/>
            </a:solidFill>
            <a:prstDash val="solid"/>
          </a:ln>
        </p:spPr>
        <p:txBody>
          <a:bodyPr/>
          <a:lstStyle/>
          <a:p>
            <a:endParaRPr lang="es-ES"/>
          </a:p>
        </p:txBody>
      </p:sp>
      <p:sp>
        <p:nvSpPr>
          <p:cNvPr id="10" name="Text 7"/>
          <p:cNvSpPr/>
          <p:nvPr/>
        </p:nvSpPr>
        <p:spPr>
          <a:xfrm>
            <a:off x="658368" y="2103120"/>
            <a:ext cx="4434840" cy="256032"/>
          </a:xfrm>
          <a:prstGeom prst="rect">
            <a:avLst/>
          </a:prstGeom>
          <a:noFill/>
          <a:ln/>
        </p:spPr>
        <p:txBody>
          <a:bodyPr wrap="square" lIns="0" tIns="0" rIns="0" bIns="0" rtlCol="0" anchor="ctr"/>
          <a:lstStyle/>
          <a:p>
            <a:pPr marL="0" indent="0">
              <a:buNone/>
            </a:pPr>
            <a:r>
              <a:rPr lang="en-US" sz="1150" b="1" dirty="0">
                <a:solidFill>
                  <a:srgbClr val="FFFFFF"/>
                </a:solidFill>
                <a:latin typeface="Trebuchet MS" pitchFamily="34" charset="0"/>
                <a:ea typeface="Trebuchet MS" pitchFamily="34" charset="-122"/>
                <a:cs typeface="Trebuchet MS" pitchFamily="34" charset="-120"/>
              </a:rPr>
              <a:t>Network profundo en el sector</a:t>
            </a:r>
            <a:endParaRPr lang="en-US" sz="1150" dirty="0"/>
          </a:p>
        </p:txBody>
      </p:sp>
      <p:sp>
        <p:nvSpPr>
          <p:cNvPr id="11" name="Text 8"/>
          <p:cNvSpPr/>
          <p:nvPr/>
        </p:nvSpPr>
        <p:spPr>
          <a:xfrm>
            <a:off x="658368" y="2377440"/>
            <a:ext cx="4434840" cy="438912"/>
          </a:xfrm>
          <a:prstGeom prst="rect">
            <a:avLst/>
          </a:prstGeom>
          <a:noFill/>
          <a:ln/>
        </p:spPr>
        <p:txBody>
          <a:bodyPr wrap="square" lIns="0" tIns="0" rIns="0" bIns="0" rtlCol="0" anchor="ctr"/>
          <a:lstStyle/>
          <a:p>
            <a:pPr marL="0" indent="0">
              <a:buNone/>
            </a:pPr>
            <a:r>
              <a:rPr lang="en-US" sz="950" dirty="0">
                <a:solidFill>
                  <a:srgbClr val="8BA4BC"/>
                </a:solidFill>
                <a:latin typeface="Calibri" pitchFamily="34" charset="0"/>
                <a:ea typeface="Calibri" pitchFamily="34" charset="-122"/>
                <a:cs typeface="Calibri" pitchFamily="34" charset="-120"/>
              </a:rPr>
              <a:t>Red de contactos en concesionarios, operadores de renting, aseguradoras y financiadores, construida desde roles ejecutivos en la industria.</a:t>
            </a:r>
            <a:endParaRPr lang="en-US" sz="950" dirty="0"/>
          </a:p>
        </p:txBody>
      </p:sp>
      <p:sp>
        <p:nvSpPr>
          <p:cNvPr id="12" name="Shape 9"/>
          <p:cNvSpPr/>
          <p:nvPr/>
        </p:nvSpPr>
        <p:spPr>
          <a:xfrm>
            <a:off x="457200" y="3035808"/>
            <a:ext cx="50292" cy="713232"/>
          </a:xfrm>
          <a:prstGeom prst="rect">
            <a:avLst/>
          </a:prstGeom>
          <a:solidFill>
            <a:srgbClr val="00B4A0"/>
          </a:solidFill>
          <a:ln w="12700">
            <a:solidFill>
              <a:srgbClr val="00B4A0"/>
            </a:solidFill>
            <a:prstDash val="solid"/>
          </a:ln>
        </p:spPr>
        <p:txBody>
          <a:bodyPr/>
          <a:lstStyle/>
          <a:p>
            <a:endParaRPr lang="es-ES"/>
          </a:p>
        </p:txBody>
      </p:sp>
      <p:sp>
        <p:nvSpPr>
          <p:cNvPr id="13" name="Text 10"/>
          <p:cNvSpPr/>
          <p:nvPr/>
        </p:nvSpPr>
        <p:spPr>
          <a:xfrm>
            <a:off x="658368" y="3035808"/>
            <a:ext cx="4434840" cy="256032"/>
          </a:xfrm>
          <a:prstGeom prst="rect">
            <a:avLst/>
          </a:prstGeom>
          <a:noFill/>
          <a:ln/>
        </p:spPr>
        <p:txBody>
          <a:bodyPr wrap="square" lIns="0" tIns="0" rIns="0" bIns="0" rtlCol="0" anchor="ctr"/>
          <a:lstStyle/>
          <a:p>
            <a:pPr marL="0" indent="0">
              <a:buNone/>
            </a:pPr>
            <a:r>
              <a:rPr lang="en-US" sz="1150" b="1" dirty="0">
                <a:solidFill>
                  <a:srgbClr val="FFFFFF"/>
                </a:solidFill>
                <a:latin typeface="Trebuchet MS" pitchFamily="34" charset="0"/>
                <a:ea typeface="Trebuchet MS" pitchFamily="34" charset="-122"/>
                <a:cs typeface="Trebuchet MS" pitchFamily="34" charset="-120"/>
              </a:rPr>
              <a:t>Conocimiento de toda la cadena</a:t>
            </a:r>
            <a:endParaRPr lang="en-US" sz="1150" dirty="0"/>
          </a:p>
        </p:txBody>
      </p:sp>
      <p:sp>
        <p:nvSpPr>
          <p:cNvPr id="14" name="Text 11"/>
          <p:cNvSpPr/>
          <p:nvPr/>
        </p:nvSpPr>
        <p:spPr>
          <a:xfrm>
            <a:off x="658368" y="3310128"/>
            <a:ext cx="4434840" cy="438912"/>
          </a:xfrm>
          <a:prstGeom prst="rect">
            <a:avLst/>
          </a:prstGeom>
          <a:noFill/>
          <a:ln/>
        </p:spPr>
        <p:txBody>
          <a:bodyPr wrap="square" lIns="0" tIns="0" rIns="0" bIns="0" rtlCol="0" anchor="ctr"/>
          <a:lstStyle/>
          <a:p>
            <a:pPr marL="0" indent="0">
              <a:buNone/>
            </a:pPr>
            <a:r>
              <a:rPr lang="en-US" sz="950" dirty="0">
                <a:solidFill>
                  <a:srgbClr val="8BA4BC"/>
                </a:solidFill>
                <a:latin typeface="Calibri" pitchFamily="34" charset="0"/>
                <a:ea typeface="Calibri" pitchFamily="34" charset="-122"/>
                <a:cs typeface="Calibri" pitchFamily="34" charset="-120"/>
              </a:rPr>
              <a:t>Desde la compra de VN a la exportación de VO (Carsway/M-Flex), gestión de flota, riesgos y financiación retail y estructurada (Macquarie).</a:t>
            </a:r>
            <a:endParaRPr lang="en-US" sz="950" dirty="0"/>
          </a:p>
        </p:txBody>
      </p:sp>
      <p:sp>
        <p:nvSpPr>
          <p:cNvPr id="15" name="Shape 12"/>
          <p:cNvSpPr/>
          <p:nvPr/>
        </p:nvSpPr>
        <p:spPr>
          <a:xfrm>
            <a:off x="457200" y="3968496"/>
            <a:ext cx="50292" cy="713232"/>
          </a:xfrm>
          <a:prstGeom prst="rect">
            <a:avLst/>
          </a:prstGeom>
          <a:solidFill>
            <a:srgbClr val="00B4A0"/>
          </a:solidFill>
          <a:ln w="12700">
            <a:solidFill>
              <a:srgbClr val="00B4A0"/>
            </a:solidFill>
            <a:prstDash val="solid"/>
          </a:ln>
        </p:spPr>
        <p:txBody>
          <a:bodyPr/>
          <a:lstStyle/>
          <a:p>
            <a:endParaRPr lang="es-ES"/>
          </a:p>
        </p:txBody>
      </p:sp>
      <p:sp>
        <p:nvSpPr>
          <p:cNvPr id="16" name="Text 13"/>
          <p:cNvSpPr/>
          <p:nvPr/>
        </p:nvSpPr>
        <p:spPr>
          <a:xfrm>
            <a:off x="658368" y="3968496"/>
            <a:ext cx="4434840" cy="256032"/>
          </a:xfrm>
          <a:prstGeom prst="rect">
            <a:avLst/>
          </a:prstGeom>
          <a:noFill/>
          <a:ln/>
        </p:spPr>
        <p:txBody>
          <a:bodyPr wrap="square" lIns="0" tIns="0" rIns="0" bIns="0" rtlCol="0" anchor="ctr"/>
          <a:lstStyle/>
          <a:p>
            <a:pPr marL="0" indent="0">
              <a:buNone/>
            </a:pPr>
            <a:r>
              <a:rPr lang="en-US" sz="1150" b="1" dirty="0">
                <a:solidFill>
                  <a:srgbClr val="FFFFFF"/>
                </a:solidFill>
                <a:latin typeface="Trebuchet MS" pitchFamily="34" charset="0"/>
                <a:ea typeface="Trebuchet MS" pitchFamily="34" charset="-122"/>
                <a:cs typeface="Trebuchet MS" pitchFamily="34" charset="-120"/>
              </a:rPr>
              <a:t>Colaboradores clave ya activos</a:t>
            </a:r>
            <a:endParaRPr lang="en-US" sz="1150" dirty="0"/>
          </a:p>
        </p:txBody>
      </p:sp>
      <p:sp>
        <p:nvSpPr>
          <p:cNvPr id="17" name="Text 14"/>
          <p:cNvSpPr/>
          <p:nvPr/>
        </p:nvSpPr>
        <p:spPr>
          <a:xfrm>
            <a:off x="658368" y="4242816"/>
            <a:ext cx="4434840" cy="438912"/>
          </a:xfrm>
          <a:prstGeom prst="rect">
            <a:avLst/>
          </a:prstGeom>
          <a:noFill/>
          <a:ln/>
        </p:spPr>
        <p:txBody>
          <a:bodyPr wrap="square" lIns="0" tIns="0" rIns="0" bIns="0" rtlCol="0" anchor="ctr"/>
          <a:lstStyle/>
          <a:p>
            <a:pPr marL="0" indent="0">
              <a:buNone/>
            </a:pPr>
            <a:r>
              <a:rPr lang="en-US" sz="950" dirty="0">
                <a:solidFill>
                  <a:srgbClr val="8BA4BC"/>
                </a:solidFill>
                <a:latin typeface="Calibri" pitchFamily="34" charset="0"/>
                <a:ea typeface="Calibri" pitchFamily="34" charset="-122"/>
                <a:cs typeface="Calibri" pitchFamily="34" charset="-120"/>
              </a:rPr>
              <a:t>Red de talleres, tasadores y partners tecnológicos ya contactados, con propuestas comerciales y acuerdos de colaboración firmados.</a:t>
            </a:r>
            <a:endParaRPr lang="en-US" sz="950" dirty="0"/>
          </a:p>
        </p:txBody>
      </p:sp>
      <p:sp>
        <p:nvSpPr>
          <p:cNvPr id="18" name="Shape 15"/>
          <p:cNvSpPr/>
          <p:nvPr/>
        </p:nvSpPr>
        <p:spPr>
          <a:xfrm>
            <a:off x="5321808" y="1078992"/>
            <a:ext cx="3566160" cy="3858768"/>
          </a:xfrm>
          <a:prstGeom prst="rect">
            <a:avLst/>
          </a:prstGeom>
          <a:solidFill>
            <a:srgbClr val="1A2E44"/>
          </a:solidFill>
          <a:ln w="12700">
            <a:solidFill>
              <a:srgbClr val="1E3A5A"/>
            </a:solidFill>
            <a:prstDash val="solid"/>
          </a:ln>
        </p:spPr>
        <p:txBody>
          <a:bodyPr/>
          <a:lstStyle/>
          <a:p>
            <a:endParaRPr lang="es-ES"/>
          </a:p>
        </p:txBody>
      </p:sp>
      <p:sp>
        <p:nvSpPr>
          <p:cNvPr id="19" name="Text 16"/>
          <p:cNvSpPr/>
          <p:nvPr/>
        </p:nvSpPr>
        <p:spPr>
          <a:xfrm>
            <a:off x="5440680" y="1170432"/>
            <a:ext cx="3337560" cy="201168"/>
          </a:xfrm>
          <a:prstGeom prst="rect">
            <a:avLst/>
          </a:prstGeom>
          <a:noFill/>
          <a:ln/>
        </p:spPr>
        <p:txBody>
          <a:bodyPr wrap="square" lIns="0" tIns="0" rIns="0" bIns="0" rtlCol="0" anchor="ctr"/>
          <a:lstStyle/>
          <a:p>
            <a:pPr marL="0" indent="0">
              <a:buNone/>
            </a:pPr>
            <a:r>
              <a:rPr lang="en-US" sz="750" b="1" kern="0" spc="200" dirty="0">
                <a:solidFill>
                  <a:srgbClr val="00B4A0"/>
                </a:solidFill>
                <a:latin typeface="Calibri" pitchFamily="34" charset="0"/>
                <a:ea typeface="Calibri" pitchFamily="34" charset="-122"/>
                <a:cs typeface="Calibri" pitchFamily="34" charset="-120"/>
              </a:rPr>
              <a:t>CO-FUNDADORES</a:t>
            </a:r>
            <a:endParaRPr lang="en-US" sz="750" dirty="0"/>
          </a:p>
        </p:txBody>
      </p:sp>
      <p:pic>
        <p:nvPicPr>
          <p:cNvPr id="20" name="Image 1" descr="preencoded.png"/>
          <p:cNvPicPr>
            <a:picLocks noChangeAspect="1"/>
          </p:cNvPicPr>
          <p:nvPr/>
        </p:nvPicPr>
        <p:blipFill>
          <a:blip r:embed="rId3"/>
          <a:stretch>
            <a:fillRect/>
          </a:stretch>
        </p:blipFill>
        <p:spPr>
          <a:xfrm>
            <a:off x="5440680" y="1463040"/>
            <a:ext cx="530352" cy="530352"/>
          </a:xfrm>
          <a:prstGeom prst="ellipse">
            <a:avLst/>
          </a:prstGeom>
        </p:spPr>
      </p:pic>
      <p:sp>
        <p:nvSpPr>
          <p:cNvPr id="21" name="Text 17"/>
          <p:cNvSpPr/>
          <p:nvPr/>
        </p:nvSpPr>
        <p:spPr>
          <a:xfrm>
            <a:off x="6053328" y="1463040"/>
            <a:ext cx="2743200" cy="237744"/>
          </a:xfrm>
          <a:prstGeom prst="rect">
            <a:avLst/>
          </a:prstGeom>
          <a:noFill/>
          <a:ln/>
        </p:spPr>
        <p:txBody>
          <a:bodyPr wrap="square" lIns="0" tIns="0" rIns="0" bIns="0" rtlCol="0" anchor="ctr"/>
          <a:lstStyle/>
          <a:p>
            <a:pPr marL="0" indent="0">
              <a:buNone/>
            </a:pPr>
            <a:r>
              <a:rPr lang="en-US" sz="1150" b="1" dirty="0">
                <a:solidFill>
                  <a:srgbClr val="FFFFFF"/>
                </a:solidFill>
                <a:latin typeface="Trebuchet MS" pitchFamily="34" charset="0"/>
                <a:ea typeface="Trebuchet MS" pitchFamily="34" charset="-122"/>
                <a:cs typeface="Trebuchet MS" pitchFamily="34" charset="-120"/>
              </a:rPr>
              <a:t>Juan Hernández</a:t>
            </a:r>
            <a:endParaRPr lang="en-US" sz="1150" dirty="0"/>
          </a:p>
        </p:txBody>
      </p:sp>
      <p:sp>
        <p:nvSpPr>
          <p:cNvPr id="22" name="Text 18"/>
          <p:cNvSpPr/>
          <p:nvPr/>
        </p:nvSpPr>
        <p:spPr>
          <a:xfrm>
            <a:off x="6053328" y="1719072"/>
            <a:ext cx="2743200" cy="201168"/>
          </a:xfrm>
          <a:prstGeom prst="rect">
            <a:avLst/>
          </a:prstGeom>
          <a:noFill/>
          <a:ln/>
        </p:spPr>
        <p:txBody>
          <a:bodyPr wrap="square" lIns="0" tIns="0" rIns="0" bIns="0" rtlCol="0" anchor="ctr"/>
          <a:lstStyle/>
          <a:p>
            <a:pPr marL="0" indent="0">
              <a:buNone/>
            </a:pPr>
            <a:r>
              <a:rPr lang="en-US" sz="850" dirty="0">
                <a:solidFill>
                  <a:srgbClr val="8BA4BC"/>
                </a:solidFill>
                <a:latin typeface="Calibri" pitchFamily="34" charset="0"/>
                <a:ea typeface="Calibri" pitchFamily="34" charset="-122"/>
                <a:cs typeface="Calibri" pitchFamily="34" charset="-120"/>
              </a:rPr>
              <a:t>· Dir. Negocio y Operaciones, APK Renting</a:t>
            </a:r>
            <a:endParaRPr lang="en-US" sz="850" dirty="0"/>
          </a:p>
        </p:txBody>
      </p:sp>
      <p:sp>
        <p:nvSpPr>
          <p:cNvPr id="23" name="Text 19"/>
          <p:cNvSpPr/>
          <p:nvPr/>
        </p:nvSpPr>
        <p:spPr>
          <a:xfrm>
            <a:off x="6053328" y="1920240"/>
            <a:ext cx="2743200" cy="201168"/>
          </a:xfrm>
          <a:prstGeom prst="rect">
            <a:avLst/>
          </a:prstGeom>
          <a:noFill/>
          <a:ln/>
        </p:spPr>
        <p:txBody>
          <a:bodyPr wrap="square" lIns="0" tIns="0" rIns="0" bIns="0" rtlCol="0" anchor="ctr"/>
          <a:lstStyle/>
          <a:p>
            <a:pPr marL="0" indent="0">
              <a:buNone/>
            </a:pPr>
            <a:r>
              <a:rPr lang="en-US" sz="850" dirty="0">
                <a:solidFill>
                  <a:srgbClr val="8BA4BC"/>
                </a:solidFill>
                <a:latin typeface="Calibri" pitchFamily="34" charset="0"/>
                <a:ea typeface="Calibri" pitchFamily="34" charset="-122"/>
                <a:cs typeface="Calibri" pitchFamily="34" charset="-120"/>
              </a:rPr>
              <a:t>· Socio, The Values Corner (Seguros y Banca)</a:t>
            </a:r>
            <a:endParaRPr lang="en-US" sz="850" dirty="0"/>
          </a:p>
        </p:txBody>
      </p:sp>
      <p:sp>
        <p:nvSpPr>
          <p:cNvPr id="24" name="Text 20"/>
          <p:cNvSpPr/>
          <p:nvPr/>
        </p:nvSpPr>
        <p:spPr>
          <a:xfrm>
            <a:off x="6053328" y="2121408"/>
            <a:ext cx="2743200" cy="201168"/>
          </a:xfrm>
          <a:prstGeom prst="rect">
            <a:avLst/>
          </a:prstGeom>
          <a:noFill/>
          <a:ln/>
        </p:spPr>
        <p:txBody>
          <a:bodyPr wrap="square" lIns="0" tIns="0" rIns="0" bIns="0" rtlCol="0" anchor="ctr"/>
          <a:lstStyle/>
          <a:p>
            <a:pPr marL="0" indent="0">
              <a:buNone/>
            </a:pPr>
            <a:r>
              <a:rPr lang="en-US" sz="850" dirty="0">
                <a:solidFill>
                  <a:srgbClr val="8BA4BC"/>
                </a:solidFill>
                <a:latin typeface="Calibri" pitchFamily="34" charset="0"/>
                <a:ea typeface="Calibri" pitchFamily="34" charset="-122"/>
                <a:cs typeface="Calibri" pitchFamily="34" charset="-120"/>
              </a:rPr>
              <a:t>· Profesor de Finanzas, Albert School</a:t>
            </a:r>
            <a:endParaRPr lang="en-US" sz="850" dirty="0"/>
          </a:p>
        </p:txBody>
      </p:sp>
      <p:sp>
        <p:nvSpPr>
          <p:cNvPr id="25" name="Text 21"/>
          <p:cNvSpPr/>
          <p:nvPr/>
        </p:nvSpPr>
        <p:spPr>
          <a:xfrm>
            <a:off x="6053328" y="2322576"/>
            <a:ext cx="2743200" cy="201168"/>
          </a:xfrm>
          <a:prstGeom prst="rect">
            <a:avLst/>
          </a:prstGeom>
          <a:noFill/>
          <a:ln/>
        </p:spPr>
        <p:txBody>
          <a:bodyPr wrap="square" lIns="0" tIns="0" rIns="0" bIns="0" rtlCol="0" anchor="ctr"/>
          <a:lstStyle/>
          <a:p>
            <a:pPr marL="0" indent="0">
              <a:buNone/>
            </a:pPr>
            <a:r>
              <a:rPr lang="en-US" sz="850" dirty="0">
                <a:solidFill>
                  <a:srgbClr val="8BA4BC"/>
                </a:solidFill>
                <a:latin typeface="Calibri" pitchFamily="34" charset="0"/>
                <a:ea typeface="Calibri" pitchFamily="34" charset="-122"/>
                <a:cs typeface="Calibri" pitchFamily="34" charset="-120"/>
              </a:rPr>
              <a:t>· Máster Business Analytics · Filosofía</a:t>
            </a:r>
            <a:endParaRPr lang="en-US" sz="850" dirty="0"/>
          </a:p>
        </p:txBody>
      </p:sp>
      <p:sp>
        <p:nvSpPr>
          <p:cNvPr id="26" name="Shape 22"/>
          <p:cNvSpPr/>
          <p:nvPr/>
        </p:nvSpPr>
        <p:spPr>
          <a:xfrm>
            <a:off x="5394960" y="2542032"/>
            <a:ext cx="3401568" cy="22860"/>
          </a:xfrm>
          <a:prstGeom prst="rect">
            <a:avLst/>
          </a:prstGeom>
          <a:solidFill>
            <a:srgbClr val="1E3A5A"/>
          </a:solidFill>
          <a:ln w="12700">
            <a:solidFill>
              <a:srgbClr val="1E3A5A"/>
            </a:solidFill>
            <a:prstDash val="solid"/>
          </a:ln>
        </p:spPr>
        <p:txBody>
          <a:bodyPr/>
          <a:lstStyle/>
          <a:p>
            <a:endParaRPr lang="es-ES"/>
          </a:p>
        </p:txBody>
      </p:sp>
      <p:pic>
        <p:nvPicPr>
          <p:cNvPr id="27" name="Image 2" descr="preencoded.png"/>
          <p:cNvPicPr>
            <a:picLocks noChangeAspect="1"/>
          </p:cNvPicPr>
          <p:nvPr/>
        </p:nvPicPr>
        <p:blipFill>
          <a:blip r:embed="rId4"/>
          <a:stretch>
            <a:fillRect/>
          </a:stretch>
        </p:blipFill>
        <p:spPr>
          <a:xfrm>
            <a:off x="5440680" y="2633472"/>
            <a:ext cx="530352" cy="530352"/>
          </a:xfrm>
          <a:prstGeom prst="ellipse">
            <a:avLst/>
          </a:prstGeom>
        </p:spPr>
      </p:pic>
      <p:sp>
        <p:nvSpPr>
          <p:cNvPr id="28" name="Text 23"/>
          <p:cNvSpPr/>
          <p:nvPr/>
        </p:nvSpPr>
        <p:spPr>
          <a:xfrm>
            <a:off x="6053328" y="2633472"/>
            <a:ext cx="2743200" cy="237744"/>
          </a:xfrm>
          <a:prstGeom prst="rect">
            <a:avLst/>
          </a:prstGeom>
          <a:noFill/>
          <a:ln/>
        </p:spPr>
        <p:txBody>
          <a:bodyPr wrap="square" lIns="0" tIns="0" rIns="0" bIns="0" rtlCol="0" anchor="ctr"/>
          <a:lstStyle/>
          <a:p>
            <a:pPr marL="0" indent="0">
              <a:buNone/>
            </a:pPr>
            <a:r>
              <a:rPr lang="en-US" sz="1150" b="1" dirty="0">
                <a:solidFill>
                  <a:srgbClr val="FFFFFF"/>
                </a:solidFill>
                <a:latin typeface="Trebuchet MS" pitchFamily="34" charset="0"/>
                <a:ea typeface="Trebuchet MS" pitchFamily="34" charset="-122"/>
                <a:cs typeface="Trebuchet MS" pitchFamily="34" charset="-120"/>
              </a:rPr>
              <a:t>Javier Linares</a:t>
            </a:r>
            <a:endParaRPr lang="en-US" sz="1150" dirty="0"/>
          </a:p>
        </p:txBody>
      </p:sp>
      <p:sp>
        <p:nvSpPr>
          <p:cNvPr id="29" name="Text 24"/>
          <p:cNvSpPr/>
          <p:nvPr/>
        </p:nvSpPr>
        <p:spPr>
          <a:xfrm>
            <a:off x="6053328" y="2889504"/>
            <a:ext cx="2743200" cy="201168"/>
          </a:xfrm>
          <a:prstGeom prst="rect">
            <a:avLst/>
          </a:prstGeom>
          <a:noFill/>
          <a:ln/>
        </p:spPr>
        <p:txBody>
          <a:bodyPr wrap="square" lIns="0" tIns="0" rIns="0" bIns="0" rtlCol="0" anchor="ctr"/>
          <a:lstStyle/>
          <a:p>
            <a:pPr marL="0" indent="0">
              <a:buNone/>
            </a:pPr>
            <a:r>
              <a:rPr lang="en-US" sz="850" dirty="0">
                <a:solidFill>
                  <a:srgbClr val="8BA4BC"/>
                </a:solidFill>
                <a:latin typeface="Calibri" pitchFamily="34" charset="0"/>
                <a:ea typeface="Calibri" pitchFamily="34" charset="-122"/>
                <a:cs typeface="Calibri" pitchFamily="34" charset="-120"/>
              </a:rPr>
              <a:t>· Dir. Operaciones y Finanzas, APK Renting</a:t>
            </a:r>
            <a:endParaRPr lang="en-US" sz="850" dirty="0"/>
          </a:p>
        </p:txBody>
      </p:sp>
      <p:sp>
        <p:nvSpPr>
          <p:cNvPr id="30" name="Text 25"/>
          <p:cNvSpPr/>
          <p:nvPr/>
        </p:nvSpPr>
        <p:spPr>
          <a:xfrm>
            <a:off x="6053328" y="3090672"/>
            <a:ext cx="2743200" cy="201168"/>
          </a:xfrm>
          <a:prstGeom prst="rect">
            <a:avLst/>
          </a:prstGeom>
          <a:noFill/>
          <a:ln/>
        </p:spPr>
        <p:txBody>
          <a:bodyPr wrap="square" lIns="0" tIns="0" rIns="0" bIns="0" rtlCol="0" anchor="ctr"/>
          <a:lstStyle/>
          <a:p>
            <a:pPr marL="0" indent="0">
              <a:buNone/>
            </a:pPr>
            <a:r>
              <a:rPr lang="en-US" sz="850" dirty="0">
                <a:solidFill>
                  <a:srgbClr val="8BA4BC"/>
                </a:solidFill>
                <a:latin typeface="Calibri" pitchFamily="34" charset="0"/>
                <a:ea typeface="Calibri" pitchFamily="34" charset="-122"/>
                <a:cs typeface="Calibri" pitchFamily="34" charset="-120"/>
              </a:rPr>
              <a:t>· Asesor en operaciones estructuradas ABS</a:t>
            </a:r>
            <a:endParaRPr lang="en-US" sz="850" dirty="0"/>
          </a:p>
        </p:txBody>
      </p:sp>
      <p:sp>
        <p:nvSpPr>
          <p:cNvPr id="31" name="Text 26"/>
          <p:cNvSpPr/>
          <p:nvPr/>
        </p:nvSpPr>
        <p:spPr>
          <a:xfrm>
            <a:off x="6053328" y="3291840"/>
            <a:ext cx="2743200" cy="201168"/>
          </a:xfrm>
          <a:prstGeom prst="rect">
            <a:avLst/>
          </a:prstGeom>
          <a:noFill/>
          <a:ln/>
        </p:spPr>
        <p:txBody>
          <a:bodyPr wrap="square" lIns="0" tIns="0" rIns="0" bIns="0" rtlCol="0" anchor="ctr"/>
          <a:lstStyle/>
          <a:p>
            <a:pPr marL="0" indent="0">
              <a:buNone/>
            </a:pPr>
            <a:r>
              <a:rPr lang="en-US" sz="850" dirty="0">
                <a:solidFill>
                  <a:srgbClr val="8BA4BC"/>
                </a:solidFill>
                <a:latin typeface="Calibri" pitchFamily="34" charset="0"/>
                <a:ea typeface="Calibri" pitchFamily="34" charset="-122"/>
                <a:cs typeface="Calibri" pitchFamily="34" charset="-120"/>
              </a:rPr>
              <a:t>· Dir. VO, Carsway (M-Flex) · Fundador CityXerpa</a:t>
            </a:r>
            <a:endParaRPr lang="en-US" sz="850" dirty="0"/>
          </a:p>
        </p:txBody>
      </p:sp>
      <p:sp>
        <p:nvSpPr>
          <p:cNvPr id="32" name="Text 27"/>
          <p:cNvSpPr/>
          <p:nvPr/>
        </p:nvSpPr>
        <p:spPr>
          <a:xfrm>
            <a:off x="6053328" y="3493008"/>
            <a:ext cx="2743200" cy="201168"/>
          </a:xfrm>
          <a:prstGeom prst="rect">
            <a:avLst/>
          </a:prstGeom>
          <a:noFill/>
          <a:ln/>
        </p:spPr>
        <p:txBody>
          <a:bodyPr wrap="square" lIns="0" tIns="0" rIns="0" bIns="0" rtlCol="0" anchor="ctr"/>
          <a:lstStyle/>
          <a:p>
            <a:pPr marL="0" indent="0">
              <a:buNone/>
            </a:pPr>
            <a:r>
              <a:rPr lang="en-US" sz="850" dirty="0">
                <a:solidFill>
                  <a:srgbClr val="8BA4BC"/>
                </a:solidFill>
                <a:latin typeface="Calibri" pitchFamily="34" charset="0"/>
                <a:ea typeface="Calibri" pitchFamily="34" charset="-122"/>
                <a:cs typeface="Calibri" pitchFamily="34" charset="-120"/>
              </a:rPr>
              <a:t>· Consultor WEF, Bayer, ISDIN</a:t>
            </a:r>
            <a:endParaRPr lang="en-US" sz="850" dirty="0"/>
          </a:p>
        </p:txBody>
      </p:sp>
      <p:sp>
        <p:nvSpPr>
          <p:cNvPr id="33" name="Shape 28"/>
          <p:cNvSpPr/>
          <p:nvPr/>
        </p:nvSpPr>
        <p:spPr>
          <a:xfrm>
            <a:off x="5394960" y="3712464"/>
            <a:ext cx="3401568" cy="22860"/>
          </a:xfrm>
          <a:prstGeom prst="rect">
            <a:avLst/>
          </a:prstGeom>
          <a:solidFill>
            <a:srgbClr val="1E3A5A"/>
          </a:solidFill>
          <a:ln w="12700">
            <a:solidFill>
              <a:srgbClr val="1E3A5A"/>
            </a:solidFill>
            <a:prstDash val="solid"/>
          </a:ln>
        </p:spPr>
        <p:txBody>
          <a:bodyPr/>
          <a:lstStyle/>
          <a:p>
            <a:endParaRPr lang="es-ES"/>
          </a:p>
        </p:txBody>
      </p:sp>
      <p:pic>
        <p:nvPicPr>
          <p:cNvPr id="34" name="Image 3" descr="preencoded.png"/>
          <p:cNvPicPr>
            <a:picLocks noChangeAspect="1"/>
          </p:cNvPicPr>
          <p:nvPr/>
        </p:nvPicPr>
        <p:blipFill>
          <a:blip r:embed="rId5"/>
          <a:stretch>
            <a:fillRect/>
          </a:stretch>
        </p:blipFill>
        <p:spPr>
          <a:xfrm>
            <a:off x="5440680" y="3803904"/>
            <a:ext cx="530352" cy="530352"/>
          </a:xfrm>
          <a:prstGeom prst="ellipse">
            <a:avLst/>
          </a:prstGeom>
        </p:spPr>
      </p:pic>
      <p:sp>
        <p:nvSpPr>
          <p:cNvPr id="35" name="Text 29"/>
          <p:cNvSpPr/>
          <p:nvPr/>
        </p:nvSpPr>
        <p:spPr>
          <a:xfrm>
            <a:off x="6053328" y="3803904"/>
            <a:ext cx="2743200" cy="237744"/>
          </a:xfrm>
          <a:prstGeom prst="rect">
            <a:avLst/>
          </a:prstGeom>
          <a:noFill/>
          <a:ln/>
        </p:spPr>
        <p:txBody>
          <a:bodyPr wrap="square" lIns="0" tIns="0" rIns="0" bIns="0" rtlCol="0" anchor="ctr"/>
          <a:lstStyle/>
          <a:p>
            <a:pPr marL="0" indent="0">
              <a:buNone/>
            </a:pPr>
            <a:r>
              <a:rPr lang="en-US" sz="1150" b="1" dirty="0">
                <a:solidFill>
                  <a:srgbClr val="FFFFFF"/>
                </a:solidFill>
                <a:latin typeface="Trebuchet MS" pitchFamily="34" charset="0"/>
                <a:ea typeface="Trebuchet MS" pitchFamily="34" charset="-122"/>
                <a:cs typeface="Trebuchet MS" pitchFamily="34" charset="-120"/>
              </a:rPr>
              <a:t>Ana Picazo</a:t>
            </a:r>
            <a:endParaRPr lang="en-US" sz="1150" dirty="0"/>
          </a:p>
        </p:txBody>
      </p:sp>
      <p:sp>
        <p:nvSpPr>
          <p:cNvPr id="36" name="Text 30"/>
          <p:cNvSpPr/>
          <p:nvPr/>
        </p:nvSpPr>
        <p:spPr>
          <a:xfrm>
            <a:off x="6053328" y="4059936"/>
            <a:ext cx="2743200" cy="201168"/>
          </a:xfrm>
          <a:prstGeom prst="rect">
            <a:avLst/>
          </a:prstGeom>
          <a:noFill/>
          <a:ln/>
        </p:spPr>
        <p:txBody>
          <a:bodyPr wrap="square" lIns="0" tIns="0" rIns="0" bIns="0" rtlCol="0" anchor="ctr"/>
          <a:lstStyle/>
          <a:p>
            <a:pPr marL="0" indent="0">
              <a:buNone/>
            </a:pPr>
            <a:r>
              <a:rPr lang="en-US" sz="850" dirty="0">
                <a:solidFill>
                  <a:srgbClr val="8BA4BC"/>
                </a:solidFill>
                <a:latin typeface="Calibri" pitchFamily="34" charset="0"/>
                <a:ea typeface="Calibri" pitchFamily="34" charset="-122"/>
                <a:cs typeface="Calibri" pitchFamily="34" charset="-120"/>
              </a:rPr>
              <a:t>· Dir. Tecnología, APK Renting</a:t>
            </a:r>
            <a:endParaRPr lang="en-US" sz="850" dirty="0"/>
          </a:p>
        </p:txBody>
      </p:sp>
      <p:sp>
        <p:nvSpPr>
          <p:cNvPr id="37" name="Text 31"/>
          <p:cNvSpPr/>
          <p:nvPr/>
        </p:nvSpPr>
        <p:spPr>
          <a:xfrm>
            <a:off x="6053328" y="4261104"/>
            <a:ext cx="2743200" cy="201168"/>
          </a:xfrm>
          <a:prstGeom prst="rect">
            <a:avLst/>
          </a:prstGeom>
          <a:noFill/>
          <a:ln/>
        </p:spPr>
        <p:txBody>
          <a:bodyPr wrap="square" lIns="0" tIns="0" rIns="0" bIns="0" rtlCol="0" anchor="ctr"/>
          <a:lstStyle/>
          <a:p>
            <a:pPr marL="0" indent="0">
              <a:buNone/>
            </a:pPr>
            <a:r>
              <a:rPr lang="en-US" sz="850" dirty="0">
                <a:solidFill>
                  <a:srgbClr val="8BA4BC"/>
                </a:solidFill>
                <a:latin typeface="Calibri" pitchFamily="34" charset="0"/>
                <a:ea typeface="Calibri" pitchFamily="34" charset="-122"/>
                <a:cs typeface="Calibri" pitchFamily="34" charset="-120"/>
              </a:rPr>
              <a:t>· Ingeniera Software Senior, NTT Data</a:t>
            </a:r>
            <a:endParaRPr lang="en-US" sz="850" dirty="0"/>
          </a:p>
        </p:txBody>
      </p:sp>
      <p:sp>
        <p:nvSpPr>
          <p:cNvPr id="38" name="Text 32"/>
          <p:cNvSpPr/>
          <p:nvPr/>
        </p:nvSpPr>
        <p:spPr>
          <a:xfrm>
            <a:off x="6053328" y="4462272"/>
            <a:ext cx="2743200" cy="201168"/>
          </a:xfrm>
          <a:prstGeom prst="rect">
            <a:avLst/>
          </a:prstGeom>
          <a:noFill/>
          <a:ln/>
        </p:spPr>
        <p:txBody>
          <a:bodyPr wrap="square" lIns="0" tIns="0" rIns="0" bIns="0" rtlCol="0" anchor="ctr"/>
          <a:lstStyle/>
          <a:p>
            <a:pPr marL="0" indent="0">
              <a:buNone/>
            </a:pPr>
            <a:r>
              <a:rPr lang="en-US" sz="850" dirty="0">
                <a:solidFill>
                  <a:srgbClr val="8BA4BC"/>
                </a:solidFill>
                <a:latin typeface="Calibri" pitchFamily="34" charset="0"/>
                <a:ea typeface="Calibri" pitchFamily="34" charset="-122"/>
                <a:cs typeface="Calibri" pitchFamily="34" charset="-120"/>
              </a:rPr>
              <a:t>· Data Analyst, The Values Corner · BIP</a:t>
            </a:r>
            <a:endParaRPr lang="en-US" sz="850" dirty="0"/>
          </a:p>
        </p:txBody>
      </p:sp>
      <p:sp>
        <p:nvSpPr>
          <p:cNvPr id="39" name="Text 33"/>
          <p:cNvSpPr/>
          <p:nvPr/>
        </p:nvSpPr>
        <p:spPr>
          <a:xfrm>
            <a:off x="6053328" y="4663440"/>
            <a:ext cx="2743200" cy="201168"/>
          </a:xfrm>
          <a:prstGeom prst="rect">
            <a:avLst/>
          </a:prstGeom>
          <a:noFill/>
          <a:ln/>
        </p:spPr>
        <p:txBody>
          <a:bodyPr wrap="square" lIns="0" tIns="0" rIns="0" bIns="0" rtlCol="0" anchor="ctr"/>
          <a:lstStyle/>
          <a:p>
            <a:pPr marL="0" indent="0">
              <a:buNone/>
            </a:pPr>
            <a:r>
              <a:rPr lang="en-US" sz="850" dirty="0">
                <a:solidFill>
                  <a:srgbClr val="8BA4BC"/>
                </a:solidFill>
                <a:latin typeface="Calibri" pitchFamily="34" charset="0"/>
                <a:ea typeface="Calibri" pitchFamily="34" charset="-122"/>
                <a:cs typeface="Calibri" pitchFamily="34" charset="-120"/>
              </a:rPr>
              <a:t>· Máster Business Analytics for Big Data, ICADE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B4A0"/>
          </a:solidFill>
          <a:ln w="12700">
            <a:solidFill>
              <a:srgbClr val="00B4A0"/>
            </a:solidFill>
            <a:prstDash val="solid"/>
          </a:ln>
        </p:spPr>
        <p:txBody>
          <a:bodyPr/>
          <a:lstStyle/>
          <a:p>
            <a:endParaRPr lang="es-ES"/>
          </a:p>
        </p:txBody>
      </p:sp>
      <p:sp>
        <p:nvSpPr>
          <p:cNvPr id="3" name="Shape 1"/>
          <p:cNvSpPr/>
          <p:nvPr/>
        </p:nvSpPr>
        <p:spPr>
          <a:xfrm>
            <a:off x="0" y="3950208"/>
            <a:ext cx="9144000" cy="22860"/>
          </a:xfrm>
          <a:prstGeom prst="rect">
            <a:avLst/>
          </a:prstGeom>
          <a:solidFill>
            <a:srgbClr val="00B4A0"/>
          </a:solidFill>
          <a:ln w="12700">
            <a:solidFill>
              <a:srgbClr val="00B4A0"/>
            </a:solidFill>
            <a:prstDash val="solid"/>
          </a:ln>
        </p:spPr>
        <p:txBody>
          <a:bodyPr/>
          <a:lstStyle/>
          <a:p>
            <a:endParaRPr lang="es-ES"/>
          </a:p>
        </p:txBody>
      </p:sp>
      <p:sp>
        <p:nvSpPr>
          <p:cNvPr id="4" name="Text 2"/>
          <p:cNvSpPr/>
          <p:nvPr/>
        </p:nvSpPr>
        <p:spPr>
          <a:xfrm>
            <a:off x="0" y="1280160"/>
            <a:ext cx="9144000" cy="1371600"/>
          </a:xfrm>
          <a:prstGeom prst="rect">
            <a:avLst/>
          </a:prstGeom>
          <a:noFill/>
          <a:ln/>
        </p:spPr>
        <p:txBody>
          <a:bodyPr wrap="square" lIns="0" tIns="0" rIns="0" bIns="0" rtlCol="0" anchor="ctr"/>
          <a:lstStyle/>
          <a:p>
            <a:pPr marL="0" indent="0" algn="ctr">
              <a:buNone/>
            </a:pPr>
            <a:r>
              <a:rPr lang="en-US" sz="8000" b="1" dirty="0">
                <a:solidFill>
                  <a:srgbClr val="FFFFFF"/>
                </a:solidFill>
                <a:latin typeface="Trebuchet MS" pitchFamily="34" charset="0"/>
                <a:ea typeface="Trebuchet MS" pitchFamily="34" charset="-122"/>
                <a:cs typeface="Trebuchet MS" pitchFamily="34" charset="-120"/>
              </a:rPr>
              <a:t>CARS</a:t>
            </a:r>
            <a:r>
              <a:rPr lang="en-US" sz="8000" b="1" dirty="0">
                <a:solidFill>
                  <a:srgbClr val="00B4A0"/>
                </a:solidFill>
                <a:latin typeface="Trebuchet MS" pitchFamily="34" charset="0"/>
                <a:ea typeface="Trebuchet MS" pitchFamily="34" charset="-122"/>
                <a:cs typeface="Trebuchet MS" pitchFamily="34" charset="-120"/>
              </a:rPr>
              <a:t>WISE</a:t>
            </a:r>
            <a:endParaRPr lang="en-US" sz="8000" dirty="0"/>
          </a:p>
        </p:txBody>
      </p:sp>
      <p:sp>
        <p:nvSpPr>
          <p:cNvPr id="5" name="Text 3"/>
          <p:cNvSpPr/>
          <p:nvPr/>
        </p:nvSpPr>
        <p:spPr>
          <a:xfrm>
            <a:off x="1371600" y="2743200"/>
            <a:ext cx="6400800" cy="320040"/>
          </a:xfrm>
          <a:prstGeom prst="rect">
            <a:avLst/>
          </a:prstGeom>
          <a:noFill/>
          <a:ln/>
        </p:spPr>
        <p:txBody>
          <a:bodyPr wrap="square" lIns="0" tIns="0" rIns="0" bIns="0" rtlCol="0" anchor="ctr"/>
          <a:lstStyle/>
          <a:p>
            <a:pPr marL="0" indent="0" algn="ctr">
              <a:buNone/>
            </a:pPr>
            <a:r>
              <a:rPr lang="en-US" sz="1200" i="1" dirty="0">
                <a:solidFill>
                  <a:srgbClr val="8BA4BC"/>
                </a:solidFill>
                <a:latin typeface="Calibri" pitchFamily="34" charset="0"/>
                <a:ea typeface="Calibri" pitchFamily="34" charset="-122"/>
                <a:cs typeface="Calibri" pitchFamily="34" charset="-120"/>
              </a:rPr>
              <a:t>La forma inteligente de comprar, vender y gestionar tu coche.</a:t>
            </a:r>
            <a:endParaRPr lang="en-US" sz="1200" dirty="0"/>
          </a:p>
        </p:txBody>
      </p:sp>
      <p:sp>
        <p:nvSpPr>
          <p:cNvPr id="6" name="Shape 4"/>
          <p:cNvSpPr/>
          <p:nvPr/>
        </p:nvSpPr>
        <p:spPr>
          <a:xfrm>
            <a:off x="0" y="3977640"/>
            <a:ext cx="9144000" cy="1165860"/>
          </a:xfrm>
          <a:prstGeom prst="rect">
            <a:avLst/>
          </a:prstGeom>
          <a:solidFill>
            <a:srgbClr val="080E17"/>
          </a:solidFill>
          <a:ln w="12700">
            <a:solidFill>
              <a:srgbClr val="080E17"/>
            </a:solidFill>
            <a:prstDash val="solid"/>
          </a:ln>
        </p:spPr>
        <p:txBody>
          <a:bodyPr/>
          <a:lstStyle/>
          <a:p>
            <a:endParaRPr lang="es-ES"/>
          </a:p>
        </p:txBody>
      </p:sp>
      <p:sp>
        <p:nvSpPr>
          <p:cNvPr id="7" name="Text 5"/>
          <p:cNvSpPr/>
          <p:nvPr/>
        </p:nvSpPr>
        <p:spPr>
          <a:xfrm>
            <a:off x="365760" y="4041648"/>
            <a:ext cx="8412480" cy="1051560"/>
          </a:xfrm>
          <a:prstGeom prst="rect">
            <a:avLst/>
          </a:prstGeom>
          <a:noFill/>
          <a:ln/>
        </p:spPr>
        <p:txBody>
          <a:bodyPr wrap="square" lIns="0" tIns="0" rIns="0" bIns="0" rtlCol="0" anchor="ctr"/>
          <a:lstStyle/>
          <a:p>
            <a:pPr marL="0" indent="0" algn="just">
              <a:buNone/>
            </a:pPr>
            <a:r>
              <a:rPr lang="en-US" sz="620" dirty="0">
                <a:solidFill>
                  <a:srgbClr val="4A6070"/>
                </a:solidFill>
                <a:latin typeface="Calibri" pitchFamily="34" charset="0"/>
                <a:ea typeface="Calibri" pitchFamily="34" charset="-122"/>
                <a:cs typeface="Calibri" pitchFamily="34" charset="-120"/>
              </a:rPr>
              <a:t>LEGAL NOTICE · The information contained in this document has been prepared by CARWISE for informational purposes only. This document contains statements or estimates regarding future projections (including, but not limited to, financial projections, growth expectations, and market opportunities) based on assumptions and estimates considered reasonable as of the date of preparation. The financial information included is presented for illustrative purposes only. This presentation does not constitute an offer to sell or a solicitation of an offer to buy securities, nor should it be interpreted as financial, legal, tax, or any other form of professional advice. The reproduction, distribution, or disclosure, in whole or in part, of the contents of this document is prohibited without the prior and express authorization of CARWISE. The information contained in this document is private and confidential and intended solely for the use of its recipient. If you are not the intended recipient, or if you have received this document in error, please notify us and proceed to destroy it without continuing to read it. · © 2026 CARWISE · All rights reserved.</a:t>
            </a:r>
            <a:endParaRPr lang="en-US" sz="6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1364</Words>
  <Application>Microsoft Office PowerPoint</Application>
  <PresentationFormat>Presentación en pantalla (16:9)</PresentationFormat>
  <Paragraphs>160</Paragraphs>
  <Slides>7</Slides>
  <Notes>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Arial</vt:lpstr>
      <vt:lpstr>Calibri</vt:lpstr>
      <vt:lpstr>Trebuchet MS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Mobility CarAdvisor – Pitch Deck 2026</dc:title>
  <dc:subject>PptxGenJS Presentation</dc:subject>
  <dc:creator>PptxGenJS</dc:creator>
  <cp:lastModifiedBy>Juan José Hernández Menor</cp:lastModifiedBy>
  <cp:revision>3</cp:revision>
  <dcterms:created xsi:type="dcterms:W3CDTF">2026-04-18T14:01:23Z</dcterms:created>
  <dcterms:modified xsi:type="dcterms:W3CDTF">2026-04-18T14:05:32Z</dcterms:modified>
</cp:coreProperties>
</file>